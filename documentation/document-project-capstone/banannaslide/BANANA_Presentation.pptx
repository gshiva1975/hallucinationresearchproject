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Grounded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FACTUAL</c:v>
                  </c:pt>
                  <c:pt idx="1">
                    <c:v>ADVISORY</c:v>
                  </c:pt>
                  <c:pt idx="2">
                    <c:v>NONEXISTENT</c:v>
                  </c:pt>
                  <c:pt idx="3">
                    <c:v>FABRICATED</c:v>
                  </c:pt>
                  <c:pt idx="4">
                    <c:v>CONFIDENTIAL</c:v>
                  </c:pt>
                  <c:pt idx="5">
                    <c:v>HAL_PROBE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Blocked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FACTUAL</c:v>
                  </c:pt>
                  <c:pt idx="1">
                    <c:v>ADVISORY</c:v>
                  </c:pt>
                  <c:pt idx="2">
                    <c:v>NONEXISTENT</c:v>
                  </c:pt>
                  <c:pt idx="3">
                    <c:v>FABRICATED</c:v>
                  </c:pt>
                  <c:pt idx="4">
                    <c:v>CONFIDENTIAL</c:v>
                  </c:pt>
                  <c:pt idx="5">
                    <c:v>HAL_PROBE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C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122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C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D0DCE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305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7A9C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FACTUAL</c:v>
                  </c:pt>
                  <c:pt idx="1">
                    <c:v>ADVISORY</c:v>
                  </c:pt>
                  <c:pt idx="2">
                    <c:v>NONEXISTENT</c:v>
                  </c:pt>
                  <c:pt idx="3">
                    <c:v>FABRICATED</c:v>
                  </c:pt>
                  <c:pt idx="4">
                    <c:v>CONFIDENTIAL</c:v>
                  </c:pt>
                  <c:pt idx="5">
                    <c:v>HAL_PROBE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10.96</c:v>
                </c:pt>
                <c:pt idx="1">
                  <c:v>0.07</c:v>
                </c:pt>
                <c:pt idx="2">
                  <c:v>0.04</c:v>
                </c:pt>
                <c:pt idx="3">
                  <c:v>0.03</c:v>
                </c:pt>
                <c:pt idx="4">
                  <c:v>1.07</c:v>
                </c:pt>
                <c:pt idx="5">
                  <c:v>2.6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Optimized</c:v>
                </c:pt>
              </c:strCache>
            </c:strRef>
          </c:tx>
          <c:spPr>
            <a:solidFill>
              <a:srgbClr val="F0A5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FACTUAL</c:v>
                  </c:pt>
                  <c:pt idx="1">
                    <c:v>ADVISORY</c:v>
                  </c:pt>
                  <c:pt idx="2">
                    <c:v>NONEXISTENT</c:v>
                  </c:pt>
                  <c:pt idx="3">
                    <c:v>FABRICATED</c:v>
                  </c:pt>
                  <c:pt idx="4">
                    <c:v>CONFIDENTIAL</c:v>
                  </c:pt>
                  <c:pt idx="5">
                    <c:v>HAL_PROBE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4.97</c:v>
                </c:pt>
                <c:pt idx="1">
                  <c:v>0.2</c:v>
                </c:pt>
                <c:pt idx="2">
                  <c:v>0.02</c:v>
                </c:pt>
                <c:pt idx="3">
                  <c:v>0.02</c:v>
                </c:pt>
                <c:pt idx="4">
                  <c:v>0.66</c:v>
                </c:pt>
                <c:pt idx="5">
                  <c:v>2.86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C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122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C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D0DCE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305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72200" y="0"/>
            <a:ext cx="6400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256032"/>
            <a:ext cx="5669280" cy="475488"/>
          </a:xfrm>
          <a:prstGeom prst="rect">
            <a:avLst/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256032"/>
            <a:ext cx="566928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F0A500"/>
                </a:solidFill>
              </a:rPr>
              <a:t>PROJECT B.A.N.A.N.A.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86868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Hallucination in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AI Through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Design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28600" y="345643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</a:rPr>
              <a:t>Brokerage Analytic Network &amp; Autonomous Node Assistant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395020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Gangadhar Singh Shiva  ·  Akshobhya Rao BV  ·  Ananya Chandraker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MS Applied Artificial Intelligence · University of San Diego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274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0A500"/>
                </a:solidFill>
              </a:rPr>
              <a:t>KEY METRICS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74980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84A"/>
                </a:solidFill>
              </a:rPr>
              <a:t>83.3%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12527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CEF"/>
                </a:solidFill>
              </a:rPr>
              <a:t>Attack Deflection Rate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177393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84A"/>
                </a:solidFill>
              </a:rPr>
              <a:t>0/3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0" y="22768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CEF"/>
                </a:solidFill>
              </a:rPr>
              <a:t>Hallucination Probes Leaked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0" y="279806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84A"/>
                </a:solidFill>
              </a:rPr>
              <a:t>1.77×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0" y="33009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CEF"/>
                </a:solidFill>
              </a:rPr>
              <a:t>Latency Speedup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382219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84A"/>
                </a:solidFill>
              </a:rPr>
              <a:t>7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0" y="43251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CEF"/>
                </a:solidFill>
              </a:rPr>
              <a:t>Defence Guard Layers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" y="477316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9CC4"/>
                </a:solidFill>
              </a:rPr>
              <a:t>AAI590 Capstone · Shiley Marcos School of Engineering · April 2026  |  Technical Report MSAAI-2026-05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Hallucination in Financial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40664"/>
            <a:ext cx="1097280" cy="411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475488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CC4"/>
                </a:solidFill>
              </a:rPr>
              <a:t>AAI590 Capstone · University of San Diego · April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4206240" cy="3566160"/>
          </a:xfrm>
          <a:prstGeom prst="rect">
            <a:avLst/>
          </a:prstGeom>
          <a:solidFill>
            <a:srgbClr val="16305A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4A"/>
                </a:solidFill>
              </a:rPr>
              <a:t>Why Hallucination Is Critical in Finance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1444752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0DCEF"/>
                </a:solidFill>
              </a:rPr>
              <a:t>LLMs routinely produce statements that sound credible but cannot be traced to any verified source — a phenomenon termed </a:t>
            </a:r>
            <a:pPr indent="0" marL="0">
              <a:buNone/>
            </a:pPr>
            <a:r>
              <a:rPr lang="en-US" sz="1150" b="1" dirty="0">
                <a:solidFill>
                  <a:srgbClr val="F0A500"/>
                </a:solidFill>
              </a:rPr>
              <a:t>hallucination</a:t>
            </a:r>
            <a:pPr indent="0" marL="0">
              <a:buNone/>
            </a:pPr>
            <a:r>
              <a:rPr lang="en-US" sz="1150" dirty="0">
                <a:solidFill>
                  <a:srgbClr val="D0DCEF"/>
                </a:solidFill>
              </a:rPr>
              <a:t>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0DCEF"/>
                </a:solidFill>
              </a:rPr>
              <a:t>In financial contexts, even a single fabricated revenue figure or misattributed SEC filing can constitute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63946"/>
                </a:solidFill>
              </a:rPr>
              <a:t>material misinformation</a:t>
            </a:r>
            <a:pPr indent="0" marL="0">
              <a:buNone/>
            </a:pPr>
            <a:r>
              <a:rPr lang="en-US" sz="1150" dirty="0">
                <a:solidFill>
                  <a:srgbClr val="D0DCEF"/>
                </a:solidFill>
              </a:rPr>
              <a:t> — carrying serious regulatory and reputational consequences.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3319272"/>
            <a:ext cx="3931920" cy="310896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3319272"/>
            <a:ext cx="54864" cy="31089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331927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Numeric Errors: 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82496" y="331927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CEF"/>
                </a:solidFill>
              </a:rPr>
              <a:t>Fabricated prices, revenues, or financial figures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666744"/>
            <a:ext cx="3931920" cy="310896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666744"/>
            <a:ext cx="54864" cy="31089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66674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Temporal Errors: 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82496" y="366674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CEF"/>
                </a:solidFill>
              </a:rPr>
              <a:t>Stale data presented as current information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4014216"/>
            <a:ext cx="3931920" cy="310896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4014216"/>
            <a:ext cx="54864" cy="31089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401421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Attribution Errors: 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82496" y="401421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CEF"/>
                </a:solidFill>
              </a:rPr>
              <a:t>Claims assigned to wrong sources or companies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914400"/>
            <a:ext cx="4206240" cy="3566160"/>
          </a:xfrm>
          <a:prstGeom prst="rect">
            <a:avLst/>
          </a:prstGeom>
          <a:solidFill>
            <a:srgbClr val="16305A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4A"/>
                </a:solidFill>
              </a:rPr>
              <a:t>Research Evidence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00600" y="1481328"/>
            <a:ext cx="3931920" cy="768096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5179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Bang et al., 2023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17556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0DCEF"/>
                </a:solidFill>
              </a:rPr>
              <a:t>Hallucination rates high enough to disqualify raw LLM output for financial use without explicit grounding.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2377440"/>
            <a:ext cx="3931920" cy="768096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4140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Gao et al., 2023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2651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0DCEF"/>
                </a:solidFill>
              </a:rPr>
              <a:t>RAG reduces hallucination by 30–60% across knowledge-intensive benchmarks.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0600" y="3273552"/>
            <a:ext cx="3931920" cy="768096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3101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Shuster et al., 2021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5478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0DCEF"/>
                </a:solidFill>
              </a:rPr>
              <a:t>Retrieval-grounded systems cut factual hallucination by 54% vs. generation-only.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00600" y="4206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0A500"/>
                </a:solidFill>
              </a:rPr>
              <a:t>Our response: Project B.A.N.A.N.A. — a 7-layer defence architecture with LLM-free answer assembly.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Architecture: Three-Layer Design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40664"/>
            <a:ext cx="1097280" cy="411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475488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CC4"/>
                </a:solidFill>
              </a:rPr>
              <a:t>AAI590 Capstone · University of San Diego · April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82880" y="896112"/>
            <a:ext cx="2834640" cy="3611880"/>
          </a:xfrm>
          <a:prstGeom prst="rect">
            <a:avLst/>
          </a:prstGeom>
          <a:solidFill>
            <a:srgbClr val="16305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896112"/>
            <a:ext cx="283464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896112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Layer 1: Outer Peel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" y="1335024"/>
            <a:ext cx="2688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B4D8"/>
                </a:solidFill>
              </a:rPr>
              <a:t>MCP Data Source Servers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" y="177393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7282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CEF"/>
                </a:solidFill>
              </a:rPr>
              <a:t>Alpha Vantage OHLCV (banana-market)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0896" y="2249424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2037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CEF"/>
                </a:solidFill>
              </a:rPr>
              <a:t>SEC EDGAR Filings (banana-sec)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0896" y="2724912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679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CEF"/>
                </a:solidFill>
              </a:rPr>
              <a:t>Twitter/X Social Sentiment (banana-social)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3255264"/>
            <a:ext cx="2688336" cy="182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3319272"/>
            <a:ext cx="2688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CC4"/>
                </a:solidFill>
              </a:rPr>
              <a:t>Live data fetched at inference time — no static training corpus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72968" y="896112"/>
            <a:ext cx="2834640" cy="3611880"/>
          </a:xfrm>
          <a:prstGeom prst="rect">
            <a:avLst/>
          </a:prstGeom>
          <a:solidFill>
            <a:srgbClr val="16305A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72968" y="896112"/>
            <a:ext cx="2834640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896112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Layer 2: The Pulp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46120" y="1335024"/>
            <a:ext cx="2688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A500"/>
                </a:solidFill>
              </a:rPr>
              <a:t>LangGraph Agentic Pipeline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00984" y="1773936"/>
            <a:ext cx="164592" cy="16459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17282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CEF"/>
                </a:solidFill>
              </a:rPr>
              <a:t>11-node DAG with typed AgentState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00984" y="2249424"/>
            <a:ext cx="164592" cy="16459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22037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CEF"/>
                </a:solidFill>
              </a:rPr>
              <a:t>Guard nodes with fail-fast pattern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00984" y="2724912"/>
            <a:ext cx="164592" cy="16459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2679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CEF"/>
                </a:solidFill>
              </a:rPr>
              <a:t>FinBERT sentiment analysis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46120" y="3255264"/>
            <a:ext cx="2688336" cy="1828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3319272"/>
            <a:ext cx="2688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CC4"/>
                </a:solidFill>
              </a:rPr>
              <a:t>Orchestrates retrieval, validation, and answer assembly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63056" y="896112"/>
            <a:ext cx="2834640" cy="3611880"/>
          </a:xfrm>
          <a:prstGeom prst="rect">
            <a:avLst/>
          </a:prstGeom>
          <a:solidFill>
            <a:srgbClr val="16305A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63056" y="896112"/>
            <a:ext cx="2834640" cy="38404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896112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Layer 3: The Core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36208" y="1335024"/>
            <a:ext cx="2688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EC4B6"/>
                </a:solidFill>
              </a:rPr>
              <a:t>Vector Store &amp; Model Backbone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91072" y="1773936"/>
            <a:ext cx="164592" cy="16459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0528" y="17282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CEF"/>
                </a:solidFill>
              </a:rPr>
              <a:t>ChromaDB persistent vector store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91072" y="2249424"/>
            <a:ext cx="164592" cy="16459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10528" y="22037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CEF"/>
                </a:solidFill>
              </a:rPr>
              <a:t>all-MiniLM-L6-v2 (384-dim embeddings)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91072" y="2724912"/>
            <a:ext cx="164592" cy="16459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10528" y="2679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CEF"/>
                </a:solidFill>
              </a:rPr>
              <a:t>ProsusAI/FinBERT (finance sentiment)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36208" y="3255264"/>
            <a:ext cx="2688336" cy="1828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36208" y="3319272"/>
            <a:ext cx="2688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CC4"/>
                </a:solidFill>
              </a:rPr>
              <a:t>Within-session storage with cosine similarity retrieval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044952" y="2359152"/>
            <a:ext cx="128016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2359152"/>
            <a:ext cx="128016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2880" y="455371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F0A500"/>
                </a:solidFill>
              </a:rPr>
              <a:t>Key Design Decision: Answer assembly uses direct document concatenation — LLM generation is removed entirely from the final output stage.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Seven-Layer Defence-in-Depth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40664"/>
            <a:ext cx="1097280" cy="411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475488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CC4"/>
                </a:solidFill>
              </a:rPr>
              <a:t>AAI590 Capstone · University of San Diego · April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8600" y="896112"/>
            <a:ext cx="347472" cy="34747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90525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4A"/>
                </a:solidFill>
              </a:rPr>
              <a:t>intent_node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80360" y="90525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CEF"/>
                </a:solidFill>
              </a:rPr>
              <a:t>Advisory keyword blacklist — blocks buy/sell/predict queries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1389888"/>
            <a:ext cx="347472" cy="34747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13990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4A"/>
                </a:solidFill>
              </a:rPr>
              <a:t>fetch_node (1)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80360" y="139903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CEF"/>
                </a:solidFill>
              </a:rPr>
              <a:t>ENTITY_REGISTRY lookup — blocks fictional company hallucination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1883664"/>
            <a:ext cx="347472" cy="34747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1883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" y="18928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4A"/>
                </a:solidFill>
              </a:rPr>
              <a:t>fetch_node (2)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80360" y="189280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CEF"/>
                </a:solidFill>
              </a:rPr>
              <a:t>Year whitelist [2022–2024] — blocks future document fabrication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2377440"/>
            <a:ext cx="347472" cy="34747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23865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4A"/>
                </a:solidFill>
              </a:rPr>
              <a:t>validate_node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80360" y="238658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CEF"/>
                </a:solidFill>
              </a:rPr>
              <a:t>4-criterion quality check — blocks invalid/placeholder MCP responses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2871216"/>
            <a:ext cx="347472" cy="34747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" y="28803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4A"/>
                </a:solidFill>
              </a:rPr>
              <a:t>ticker_guard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80360" y="288036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CEF"/>
                </a:solidFill>
              </a:rPr>
              <a:t>Per-document ticker match — blocks cross-ticker contamination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8600" y="3364992"/>
            <a:ext cx="347472" cy="34747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8368" y="337413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4A"/>
                </a:solidFill>
              </a:rPr>
              <a:t>evaluate_node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880360" y="337413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CEF"/>
                </a:solidFill>
              </a:rPr>
              <a:t>Cosine similarity ≥ 0.55 — blocks low-relevance grounding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28600" y="3858768"/>
            <a:ext cx="347472" cy="34747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3858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7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8368" y="38679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4A"/>
                </a:solidFill>
              </a:rPr>
              <a:t>reflection_node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880360" y="386791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CEF"/>
                </a:solidFill>
              </a:rPr>
              <a:t>FinBERT confidence ≥ 0.70 — blocks low-confidence reports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583680" y="896112"/>
            <a:ext cx="2377440" cy="3657600"/>
          </a:xfrm>
          <a:prstGeom prst="rect">
            <a:avLst/>
          </a:prstGeom>
          <a:solidFill>
            <a:srgbClr val="16305A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0" y="9601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84A"/>
                </a:solidFill>
              </a:rPr>
              <a:t>Fail-Fast Pattern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75120" y="1371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DCEF"/>
                </a:solidFill>
              </a:rPr>
              <a:t>Any node detecting a fatal condition sets block_reason — all downstream nodes skip execution immediately.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675120" y="2304288"/>
            <a:ext cx="2194560" cy="18288"/>
          </a:xfrm>
          <a:prstGeom prst="rect">
            <a:avLst/>
          </a:prstGeom>
          <a:solidFill>
            <a:srgbClr val="7A9CC4"/>
          </a:solidFill>
          <a:ln w="12700">
            <a:solidFill>
              <a:srgbClr val="7A9CC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3946"/>
                </a:solidFill>
              </a:rPr>
              <a:t>Vulnerability Fixes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0" y="2788920"/>
            <a:ext cx="2194560" cy="512064"/>
          </a:xfrm>
          <a:prstGeom prst="rect">
            <a:avLst/>
          </a:prstGeom>
          <a:solidFill>
            <a:srgbClr val="112240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48272" y="2816352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CEF"/>
                </a:solidFill>
              </a:rPr>
              <a:t>Social Sentinel Bypass → not_placeholder check added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675120" y="3392424"/>
            <a:ext cx="2194560" cy="512064"/>
          </a:xfrm>
          <a:prstGeom prst="rect">
            <a:avLst/>
          </a:prstGeom>
          <a:solidFill>
            <a:srgbClr val="112240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48272" y="3419856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CEF"/>
                </a:solidFill>
              </a:rPr>
              <a:t>Cross-Ticker Contamination → ticker_guard_node inserted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675120" y="40599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4B6"/>
                </a:solidFill>
              </a:rPr>
              <a:t>Post-fix: blocked rate ↑ 78.6% → 88.2%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11-Node LangGraph Pipeline &amp; ML Models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40664"/>
            <a:ext cx="1097280" cy="411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475488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CC4"/>
                </a:solidFill>
              </a:rPr>
              <a:t>AAI590 Capstone · University of San Diego · April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987552"/>
            <a:ext cx="667512" cy="457200"/>
          </a:xfrm>
          <a:prstGeom prst="rect">
            <a:avLst/>
          </a:prstGeom>
          <a:solidFill>
            <a:srgbClr val="16305A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987552"/>
            <a:ext cx="6675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3946"/>
                </a:solidFill>
              </a:rPr>
              <a:t>intent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32104" y="1188720"/>
            <a:ext cx="137160" cy="54864"/>
          </a:xfrm>
          <a:prstGeom prst="rect">
            <a:avLst/>
          </a:prstGeom>
          <a:solidFill>
            <a:srgbClr val="7A9CC4"/>
          </a:solidFill>
          <a:ln w="12700">
            <a:solidFill>
              <a:srgbClr val="7A9C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" y="987552"/>
            <a:ext cx="667512" cy="457200"/>
          </a:xfrm>
          <a:prstGeom prst="rect">
            <a:avLst/>
          </a:prstGeom>
          <a:solidFill>
            <a:srgbClr val="16305A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987552"/>
            <a:ext cx="6675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A500"/>
                </a:solidFill>
              </a:rPr>
              <a:t>fetch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636776" y="1188720"/>
            <a:ext cx="137160" cy="54864"/>
          </a:xfrm>
          <a:prstGeom prst="rect">
            <a:avLst/>
          </a:prstGeom>
          <a:solidFill>
            <a:srgbClr val="7A9CC4"/>
          </a:solidFill>
          <a:ln w="12700">
            <a:solidFill>
              <a:srgbClr val="7A9C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73936" y="987552"/>
            <a:ext cx="667512" cy="457200"/>
          </a:xfrm>
          <a:prstGeom prst="rect">
            <a:avLst/>
          </a:prstGeom>
          <a:solidFill>
            <a:srgbClr val="16305A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73936" y="987552"/>
            <a:ext cx="6675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A500"/>
                </a:solidFill>
              </a:rPr>
              <a:t>validate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41448" y="1188720"/>
            <a:ext cx="137160" cy="54864"/>
          </a:xfrm>
          <a:prstGeom prst="rect">
            <a:avLst/>
          </a:prstGeom>
          <a:solidFill>
            <a:srgbClr val="7A9CC4"/>
          </a:solidFill>
          <a:ln w="12700">
            <a:solidFill>
              <a:srgbClr val="7A9C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78608" y="987552"/>
            <a:ext cx="667512" cy="457200"/>
          </a:xfrm>
          <a:prstGeom prst="rect">
            <a:avLst/>
          </a:prstGeom>
          <a:solidFill>
            <a:srgbClr val="16305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78608" y="987552"/>
            <a:ext cx="6675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store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46120" y="1188720"/>
            <a:ext cx="137160" cy="54864"/>
          </a:xfrm>
          <a:prstGeom prst="rect">
            <a:avLst/>
          </a:prstGeom>
          <a:solidFill>
            <a:srgbClr val="7A9CC4"/>
          </a:solidFill>
          <a:ln w="12700">
            <a:solidFill>
              <a:srgbClr val="7A9C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0" y="987552"/>
            <a:ext cx="667512" cy="457200"/>
          </a:xfrm>
          <a:prstGeom prst="rect">
            <a:avLst/>
          </a:prstGeom>
          <a:solidFill>
            <a:srgbClr val="16305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987552"/>
            <a:ext cx="6675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retrieve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050792" y="1188720"/>
            <a:ext cx="137160" cy="54864"/>
          </a:xfrm>
          <a:prstGeom prst="rect">
            <a:avLst/>
          </a:prstGeom>
          <a:solidFill>
            <a:srgbClr val="7A9CC4"/>
          </a:solidFill>
          <a:ln w="12700">
            <a:solidFill>
              <a:srgbClr val="7A9C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87952" y="987552"/>
            <a:ext cx="667512" cy="457200"/>
          </a:xfrm>
          <a:prstGeom prst="rect">
            <a:avLst/>
          </a:prstGeom>
          <a:solidFill>
            <a:srgbClr val="16305A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87952" y="987552"/>
            <a:ext cx="6675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3946"/>
                </a:solidFill>
              </a:rPr>
              <a:t>ticker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63946"/>
                </a:solidFill>
              </a:rPr>
              <a:t>guard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494276" y="1444752"/>
            <a:ext cx="54864" cy="237744"/>
          </a:xfrm>
          <a:prstGeom prst="rect">
            <a:avLst/>
          </a:prstGeom>
          <a:solidFill>
            <a:srgbClr val="7A9CC4"/>
          </a:solidFill>
          <a:ln w="12700">
            <a:solidFill>
              <a:srgbClr val="7A9C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3280" y="1664208"/>
            <a:ext cx="667512" cy="457200"/>
          </a:xfrm>
          <a:prstGeom prst="rect">
            <a:avLst/>
          </a:prstGeom>
          <a:solidFill>
            <a:srgbClr val="16305A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1664208"/>
            <a:ext cx="6675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A500"/>
                </a:solidFill>
              </a:rPr>
              <a:t>evaluate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46120" y="1865376"/>
            <a:ext cx="137160" cy="54864"/>
          </a:xfrm>
          <a:prstGeom prst="rect">
            <a:avLst/>
          </a:prstGeom>
          <a:solidFill>
            <a:srgbClr val="7A9CC4"/>
          </a:solidFill>
          <a:ln w="12700">
            <a:solidFill>
              <a:srgbClr val="7A9C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78608" y="1664208"/>
            <a:ext cx="667512" cy="457200"/>
          </a:xfrm>
          <a:prstGeom prst="rect">
            <a:avLst/>
          </a:prstGeom>
          <a:solidFill>
            <a:srgbClr val="16305A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78608" y="1664208"/>
            <a:ext cx="6675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C4B6"/>
                </a:solidFill>
              </a:rPr>
              <a:t>answer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441448" y="1865376"/>
            <a:ext cx="137160" cy="54864"/>
          </a:xfrm>
          <a:prstGeom prst="rect">
            <a:avLst/>
          </a:prstGeom>
          <a:solidFill>
            <a:srgbClr val="7A9CC4"/>
          </a:solidFill>
          <a:ln w="12700">
            <a:solidFill>
              <a:srgbClr val="7A9CC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73936" y="1664208"/>
            <a:ext cx="667512" cy="457200"/>
          </a:xfrm>
          <a:prstGeom prst="rect">
            <a:avLst/>
          </a:prstGeom>
          <a:solidFill>
            <a:srgbClr val="16305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73936" y="1664208"/>
            <a:ext cx="6675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analyst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636776" y="1865376"/>
            <a:ext cx="137160" cy="54864"/>
          </a:xfrm>
          <a:prstGeom prst="rect">
            <a:avLst/>
          </a:prstGeom>
          <a:solidFill>
            <a:srgbClr val="7A9CC4"/>
          </a:solidFill>
          <a:ln w="12700">
            <a:solidFill>
              <a:srgbClr val="7A9CC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9264" y="1664208"/>
            <a:ext cx="667512" cy="457200"/>
          </a:xfrm>
          <a:prstGeom prst="rect">
            <a:avLst/>
          </a:prstGeom>
          <a:solidFill>
            <a:srgbClr val="16305A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9264" y="1664208"/>
            <a:ext cx="6675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A500"/>
                </a:solidFill>
              </a:rPr>
              <a:t>reflection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32104" y="1865376"/>
            <a:ext cx="137160" cy="54864"/>
          </a:xfrm>
          <a:prstGeom prst="rect">
            <a:avLst/>
          </a:prstGeom>
          <a:solidFill>
            <a:srgbClr val="7A9CC4"/>
          </a:solidFill>
          <a:ln w="12700">
            <a:solidFill>
              <a:srgbClr val="7A9CC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4592" y="1664208"/>
            <a:ext cx="667512" cy="457200"/>
          </a:xfrm>
          <a:prstGeom prst="rect">
            <a:avLst/>
          </a:prstGeom>
          <a:solidFill>
            <a:srgbClr val="16305A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4592" y="1664208"/>
            <a:ext cx="6675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C4B6"/>
                </a:solidFill>
              </a:rPr>
              <a:t>scribe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64592" y="23042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9CC4"/>
                </a:solidFill>
              </a:rPr>
              <a:t>NODE TYPES: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371600" y="2340864"/>
            <a:ext cx="201168" cy="2011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27632" y="23225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CEF"/>
                </a:solidFill>
              </a:rPr>
              <a:t>Guard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91840" y="2340864"/>
            <a:ext cx="201168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47872" y="23225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CEF"/>
                </a:solidFill>
              </a:rPr>
              <a:t>Enricher/Retriever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212080" y="2340864"/>
            <a:ext cx="201168" cy="2011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68112" y="23225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CEF"/>
                </a:solidFill>
              </a:rPr>
              <a:t>Agent (ML)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132320" y="2340864"/>
            <a:ext cx="201168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88352" y="23225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CEF"/>
                </a:solidFill>
              </a:rPr>
              <a:t>Output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64592" y="2697480"/>
            <a:ext cx="2834640" cy="1691640"/>
          </a:xfrm>
          <a:prstGeom prst="rect">
            <a:avLst/>
          </a:prstGeom>
          <a:solidFill>
            <a:srgbClr val="16305A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64592" y="2697480"/>
            <a:ext cx="2834640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37744" y="2697480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all-MiniLM-L6-v2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56032" y="30723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</a:rPr>
              <a:t>6-layer BERT · 22M params · 384-dim embeddings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56032" y="354787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0DCEF"/>
                </a:solidFill>
              </a:rPr>
              <a:t>Sentence embedding for indexing &amp; querying ChromaDB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154680" y="2697480"/>
            <a:ext cx="2834640" cy="1691640"/>
          </a:xfrm>
          <a:prstGeom prst="rect">
            <a:avLst/>
          </a:prstGeom>
          <a:solidFill>
            <a:srgbClr val="16305A"/>
          </a:solidFill>
          <a:ln w="15240">
            <a:solidFill>
              <a:srgbClr val="F0A5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154680" y="2697480"/>
            <a:ext cx="2834640" cy="32918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27832" y="2697480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ProsusAI/FinBERT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246120" y="30723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0A500"/>
                </a:solidFill>
              </a:rPr>
              <a:t>BERT-base fine-tuned · Financial PhraseBank · 4,846 sentences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246120" y="354787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0DCEF"/>
                </a:solidFill>
              </a:rPr>
              <a:t>3-class sentiment (pos/neg/neutral) · 73.47% accuracy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144768" y="2697480"/>
            <a:ext cx="2834640" cy="1691640"/>
          </a:xfrm>
          <a:prstGeom prst="rect">
            <a:avLst/>
          </a:prstGeom>
          <a:solidFill>
            <a:srgbClr val="16305A"/>
          </a:solidFill>
          <a:ln w="15240">
            <a:solidFill>
              <a:srgbClr val="7A9CC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144768" y="2697480"/>
            <a:ext cx="2834640" cy="329184"/>
          </a:xfrm>
          <a:prstGeom prst="rect">
            <a:avLst/>
          </a:prstGeom>
          <a:solidFill>
            <a:srgbClr val="7A9CC4"/>
          </a:solidFill>
          <a:ln w="12700">
            <a:solidFill>
              <a:srgbClr val="7A9CC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17920" y="2697480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TinyLlama (Baseline)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236208" y="30723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Baseline LLM comparison only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236208" y="354787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0DCEF"/>
                </a:solidFill>
              </a:rPr>
              <a:t>Replaced by direct document concatenation in OPTIMIZED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Results: April 2, 2026 — Live API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40664"/>
            <a:ext cx="1097280" cy="411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475488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CC4"/>
                </a:solidFill>
              </a:rPr>
              <a:t>AAI590 Capstone · University of San Diego · April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96112"/>
            <a:ext cx="1920240" cy="1005840"/>
          </a:xfrm>
          <a:prstGeom prst="rect">
            <a:avLst/>
          </a:prstGeom>
          <a:solidFill>
            <a:srgbClr val="1A3A6E"/>
          </a:solidFill>
          <a:ln w="254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9456" y="950976"/>
            <a:ext cx="18105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C4B6"/>
                </a:solidFill>
              </a:rPr>
              <a:t>83.3%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19456" y="1479499"/>
            <a:ext cx="1810512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CEF"/>
                </a:solidFill>
              </a:rPr>
              <a:t>Attack Deflection Rate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31136" y="896112"/>
            <a:ext cx="1920240" cy="1005840"/>
          </a:xfrm>
          <a:prstGeom prst="rect">
            <a:avLst/>
          </a:prstGeom>
          <a:solidFill>
            <a:srgbClr val="1A3A6E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86000" y="950976"/>
            <a:ext cx="18105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</a:rPr>
              <a:t>0 / 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286000" y="1479499"/>
            <a:ext cx="1810512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CEF"/>
                </a:solidFill>
              </a:rPr>
              <a:t>Hallucination Probes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0" y="896112"/>
            <a:ext cx="1920240" cy="1005840"/>
          </a:xfrm>
          <a:prstGeom prst="rect">
            <a:avLst/>
          </a:prstGeom>
          <a:solidFill>
            <a:srgbClr val="1A3A6E"/>
          </a:solidFill>
          <a:ln w="254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52544" y="950976"/>
            <a:ext cx="18105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A500"/>
                </a:solidFill>
              </a:rPr>
              <a:t>18 / 18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352544" y="1479499"/>
            <a:ext cx="1810512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CEF"/>
                </a:solidFill>
              </a:rPr>
              <a:t>Grounded Responses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64224" y="896112"/>
            <a:ext cx="1920240" cy="1005840"/>
          </a:xfrm>
          <a:prstGeom prst="rect">
            <a:avLst/>
          </a:prstGeom>
          <a:solidFill>
            <a:srgbClr val="1A3A6E"/>
          </a:solidFill>
          <a:ln w="25400">
            <a:solidFill>
              <a:srgbClr val="FFC8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19088" y="950976"/>
            <a:ext cx="18105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C84A"/>
                </a:solidFill>
              </a:rPr>
              <a:t>1.77×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419088" y="1479499"/>
            <a:ext cx="1810512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CEF"/>
                </a:solidFill>
              </a:rPr>
              <a:t>Latency Speedup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4592" y="20848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84A"/>
                </a:solidFill>
              </a:rPr>
              <a:t>Block Reason Breakdown — 15 Blocked Queries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2450592"/>
          <a:ext cx="5303520" cy="1938528"/>
        </p:xfrm>
        <a:graphic>
          <a:graphicData uri="http://schemas.openxmlformats.org/drawingml/2006/table">
            <a:tbl>
              <a:tblPr/>
              <a:tblGrid>
                <a:gridCol w="2834640"/>
                <a:gridCol w="731520"/>
                <a:gridCol w="1737360"/>
              </a:tblGrid>
              <a:tr h="2769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Reason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</a:tr>
              <a:tr h="2769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C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BLOCKED_ADVISORY_QUERY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C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C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Advisory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</a:tr>
              <a:tr h="2769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C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BLOCKED_STALE_DOCUMENTS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C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C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 + Factual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</a:tr>
              <a:tr h="2769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C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BLOCKED_UNKNOWN_ENTITY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C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C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Nonexistent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</a:tr>
              <a:tr h="2769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C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BLOCKED_UNSUPPORTED_YEAR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C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C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Fabricated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</a:tr>
              <a:tr h="2769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C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BLOCKED_INVALID_TOOL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C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C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</a:tr>
              <a:tr h="2769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C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BLOCKED_LOW_SIMILARITY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C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C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 Probe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A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5669280" y="20848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84A"/>
                </a:solidFill>
              </a:rPr>
              <a:t>Outcome by Category</a:t>
            </a:r>
            <a:endParaRPr lang="en-US" sz="12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5577840" y="2377440"/>
          <a:ext cx="33832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Shape 20"/>
          <p:cNvSpPr/>
          <p:nvPr/>
        </p:nvSpPr>
        <p:spPr>
          <a:xfrm>
            <a:off x="164592" y="4425696"/>
            <a:ext cx="8778240" cy="256032"/>
          </a:xfrm>
          <a:prstGeom prst="rect">
            <a:avLst/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28600" y="442569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4B6"/>
                </a:solidFill>
              </a:rPr>
              <a:t>Pre-fix: 2 probes leaked · blocked 78.6%  →  Post-fix: 0 probes leaked · blocked 88.2%  (first clean full-probe sweep in project history)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Latency &amp; Throughput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40664"/>
            <a:ext cx="1097280" cy="411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475488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CC4"/>
                </a:solidFill>
              </a:rPr>
              <a:t>AAI590 Capstone · University of San Diego · April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64592" y="896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4A"/>
                </a:solidFill>
              </a:rPr>
              <a:t>Average Response Latency by Category (seconds)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164592" y="1225296"/>
          <a:ext cx="53949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5806440" y="8961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4A"/>
                </a:solidFill>
              </a:rPr>
              <a:t>Per-Category Speedup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06440" y="1261872"/>
            <a:ext cx="3108960" cy="347472"/>
          </a:xfrm>
          <a:prstGeom prst="rect">
            <a:avLst/>
          </a:prstGeom>
          <a:solidFill>
            <a:srgbClr val="16305A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70448" y="12618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Category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726680" y="12618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Speedup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06440" y="1645920"/>
            <a:ext cx="3108960" cy="34747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70448" y="1645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CEF"/>
                </a:solidFill>
              </a:rPr>
              <a:t>FACTUAL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726680" y="16459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2.2×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806440" y="2029968"/>
            <a:ext cx="3108960" cy="347472"/>
          </a:xfrm>
          <a:prstGeom prst="rect">
            <a:avLst/>
          </a:prstGeom>
          <a:solidFill>
            <a:srgbClr val="16305A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70448" y="20299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CEF"/>
                </a:solidFill>
              </a:rPr>
              <a:t>NONEXISTENT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726680" y="20299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2.0×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806440" y="2414016"/>
            <a:ext cx="3108960" cy="34747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70448" y="24140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CEF"/>
                </a:solidFill>
              </a:rPr>
              <a:t>FABRICATED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726680" y="241401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1.5×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806440" y="2798064"/>
            <a:ext cx="3108960" cy="347472"/>
          </a:xfrm>
          <a:prstGeom prst="rect">
            <a:avLst/>
          </a:prstGeom>
          <a:solidFill>
            <a:srgbClr val="16305A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70448" y="27980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CEF"/>
                </a:solidFill>
              </a:rPr>
              <a:t>CONFIDENTIAL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726680" y="279806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1.6×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806440" y="3182112"/>
            <a:ext cx="3108960" cy="34747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70448" y="31821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CEF"/>
                </a:solidFill>
              </a:rPr>
              <a:t>HAL_PROBE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726680" y="31821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CC4"/>
                </a:solidFill>
              </a:rPr>
              <a:t>0.91×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806440" y="3566160"/>
            <a:ext cx="3108960" cy="347472"/>
          </a:xfrm>
          <a:prstGeom prst="rect">
            <a:avLst/>
          </a:prstGeom>
          <a:solidFill>
            <a:srgbClr val="16305A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70448" y="3566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CEF"/>
                </a:solidFill>
              </a:rPr>
              <a:t>ADVISORY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726680" y="35661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CC4"/>
                </a:solidFill>
              </a:rPr>
              <a:t>0.35×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806440" y="3950208"/>
            <a:ext cx="3108960" cy="34747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870448" y="3950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0DCEF"/>
                </a:solidFill>
              </a:rPr>
              <a:t>OVERALL AVG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7726680" y="39502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A500"/>
                </a:solidFill>
              </a:rPr>
              <a:t>1.77×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64592" y="4370832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CC4"/>
                </a:solidFill>
              </a:rPr>
              <a:t>FACTUAL category: TinyLlama generation avg 10.96 s vs RAG cached retrieval 4.97 s  |  Guard-blocked categories respond in &lt; 0.2 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Discussion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40664"/>
            <a:ext cx="1097280" cy="411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475488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CC4"/>
                </a:solidFill>
              </a:rPr>
              <a:t>AAI590 Capstone · University of San Diego · April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96112"/>
            <a:ext cx="4251960" cy="1755648"/>
          </a:xfrm>
          <a:prstGeom prst="rect">
            <a:avLst/>
          </a:prstGeom>
          <a:solidFill>
            <a:srgbClr val="16305A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896112"/>
            <a:ext cx="73152" cy="17556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98755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946"/>
                </a:solidFill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50392" y="98755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</a:rPr>
              <a:t>Evaluation Mode Problem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" y="1408176"/>
            <a:ext cx="395020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0DCEF"/>
                </a:solidFill>
              </a:rPr>
              <a:t>In-process benchmarking leaked all 3 probes; live API blocked all 3. Guard chain only activates through the FastAPI endpoint. RAG safety evaluation must be end-to-end.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896112"/>
            <a:ext cx="4251960" cy="1755648"/>
          </a:xfrm>
          <a:prstGeom prst="rect">
            <a:avLst/>
          </a:prstGeom>
          <a:solidFill>
            <a:srgbClr val="16305A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896112"/>
            <a:ext cx="73152" cy="17556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98755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A500"/>
                </a:solidFill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49240" y="98755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</a:rPr>
              <a:t>grounded=True is Insufficient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28032" y="1408176"/>
            <a:ext cx="395020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0DCEF"/>
                </a:solidFill>
              </a:rPr>
              <a:t>Hallucination rate reported 0.0 even with 2 active vulnerabilities. A grounded flag confirms an answer was produced — not that retrieved content is correct or temporally aligned.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4592" y="2816352"/>
            <a:ext cx="4251960" cy="1755648"/>
          </a:xfrm>
          <a:prstGeom prst="rect">
            <a:avLst/>
          </a:prstGeom>
          <a:solidFill>
            <a:srgbClr val="16305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2816352"/>
            <a:ext cx="73152" cy="17556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29077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50392" y="290779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LLM-Free Assembly: Trade-offs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" y="3328416"/>
            <a:ext cx="395020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0DCEF"/>
                </a:solidFill>
              </a:rPr>
              <a:t>Architectural grounding guarantee achieved, but responses are raw document strings, not fluent prose. Acceptable for OHLCV / filing data; narrative synthesis requires a constrained generative stage.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816352"/>
            <a:ext cx="4251960" cy="1755648"/>
          </a:xfrm>
          <a:prstGeom prst="rect">
            <a:avLst/>
          </a:prstGeom>
          <a:solidFill>
            <a:srgbClr val="16305A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816352"/>
            <a:ext cx="73152" cy="175564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29077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4B6"/>
                </a:solidFill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49240" y="290779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</a:rPr>
              <a:t>FinBERT Accuracy: 73.47%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28032" y="3328416"/>
            <a:ext cx="395020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0DCEF"/>
                </a:solidFill>
              </a:rPr>
              <a:t>Below 80% production threshold. Failures on implicit positives (M&amp;A) and social media idioms. Fix: fine-tune on social corpus or add VADER tiebreaker for short inputs (&lt; 15 tokens).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40664"/>
            <a:ext cx="1097280" cy="411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475488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CC4"/>
                </a:solidFill>
              </a:rPr>
              <a:t>AAI590 Capstone · University of San Diego · April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96112"/>
            <a:ext cx="5029200" cy="3657600"/>
          </a:xfrm>
          <a:prstGeom prst="rect">
            <a:avLst/>
          </a:prstGeom>
          <a:solidFill>
            <a:srgbClr val="16305A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896112"/>
            <a:ext cx="5029200" cy="3474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" y="896112"/>
            <a:ext cx="4882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What We Proved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389888"/>
            <a:ext cx="182880" cy="18288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335024"/>
            <a:ext cx="4517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CEF"/>
                </a:solidFill>
              </a:rPr>
              <a:t>Layered guard-based RAG with LLM-free assembly achieves zero measured hallucination on live financial queries.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874520"/>
            <a:ext cx="182880" cy="18288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819656"/>
            <a:ext cx="4517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CEF"/>
                </a:solidFill>
              </a:rPr>
              <a:t>7-layer defence blocked 83.3% of adversarial inputs across 6 threat categories.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359152"/>
            <a:ext cx="182880" cy="18288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304288"/>
            <a:ext cx="4517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CEF"/>
                </a:solidFill>
              </a:rPr>
              <a:t>All 3 hallucination probes contained in live API testing — first clean sweep in project history.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843784"/>
            <a:ext cx="182880" cy="18288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788920"/>
            <a:ext cx="4517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CEF"/>
                </a:solidFill>
              </a:rPr>
              <a:t>OPTIMIZED pipeline runs at 1.77× lower latency than a plain LLM baseline.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328416"/>
            <a:ext cx="182880" cy="18288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273552"/>
            <a:ext cx="4517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CEF"/>
                </a:solidFill>
              </a:rPr>
              <a:t>In-process benchmarking is fundamentally insufficient for RAG safety evaluation — end-to-end testing is mandatory.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13248" y="896112"/>
            <a:ext cx="3566160" cy="3657600"/>
          </a:xfrm>
          <a:prstGeom prst="rect">
            <a:avLst/>
          </a:prstGeom>
          <a:solidFill>
            <a:srgbClr val="16305A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13248" y="896112"/>
            <a:ext cx="356616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896112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Future Work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522976" y="1389888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22976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70448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Date-Range Metadata Filters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870448" y="16459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0DCEF"/>
                </a:solidFill>
              </a:rPr>
              <a:t>ChromaDB retrieval filters to close temporal grounding gap for historical queries.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22976" y="2103120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22976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70448" y="2084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FinBERT Social Fine-tuning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870448" y="23591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0DCEF"/>
                </a:solidFill>
              </a:rPr>
              <a:t>Fine-tune on social media financial corpus or add VADER tiebreaker to push accuracy above 80%.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22976" y="2816352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22976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70448" y="27980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Per-Source TTL Config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870448" y="30723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0DCEF"/>
                </a:solidFill>
              </a:rPr>
              <a:t>Prevent over-blocking of SEC filing data by separating TTLs from real-time market data.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522976" y="3529584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22976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870448" y="35112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ConfigMap Thresholds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870448" y="378561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0DCEF"/>
                </a:solidFill>
              </a:rPr>
              <a:t>Promote similarity &amp; confidence thresholds to Kubernetes environment variables for live tuning without downtime.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B.A.N.A.N.A. — Reducing Hallucination in Financial AI</dc:title>
  <dc:subject>PptxGenJS Presentation</dc:subject>
  <dc:creator>Gangadhar Singh Shiva, Akshobhya Rao BV, Ananya Chandraker</dc:creator>
  <cp:lastModifiedBy>Gangadhar Singh Shiva, Akshobhya Rao BV, Ananya Chandraker</cp:lastModifiedBy>
  <cp:revision>1</cp:revision>
  <dcterms:created xsi:type="dcterms:W3CDTF">2026-04-04T16:00:45Z</dcterms:created>
  <dcterms:modified xsi:type="dcterms:W3CDTF">2026-04-04T16:00:45Z</dcterms:modified>
</cp:coreProperties>
</file>

<file path=[Content_Types].xml><?xml version="1.0" encoding="utf-8"?>
<Types xmlns="http://schemas.openxmlformats.org/package/2006/content-types">
  <Default ContentType="image/jpeg" Extension="jpg"/>
  <Default ContentType="application/vnd.openxmlformats-officedocument.spreadsheetml.sheet" Extension="xlsx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embeddedFontLst>
    <p:embeddedFont>
      <p:font typeface="Raleway"/>
      <p:regular r:id="rId16"/>
      <p:bold r:id="rId17"/>
      <p:italic r:id="rId18"/>
      <p:boldItalic r:id="rId19"/>
    </p:embeddedFont>
    <p:embeddedFont>
      <p:font typeface="Lat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kwZuw5Kr79WbyP53Dq+Y0yXch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D43506A-E28F-452B-B74A-E9CF319D02CF}">
  <a:tblStyle styleId="{FD43506A-E28F-452B-B74A-E9CF319D02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regular.fntdata"/><Relationship Id="rId11" Type="http://schemas.openxmlformats.org/officeDocument/2006/relationships/slide" Target="slides/slide6.xml"/><Relationship Id="rId22" Type="http://schemas.openxmlformats.org/officeDocument/2006/relationships/font" Target="fonts/Lato-italic.fntdata"/><Relationship Id="rId10" Type="http://schemas.openxmlformats.org/officeDocument/2006/relationships/slide" Target="slides/slide5.xml"/><Relationship Id="rId21" Type="http://schemas.openxmlformats.org/officeDocument/2006/relationships/font" Target="fonts/Lato-bold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Lato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aleway-bold.fntdata"/><Relationship Id="rId16" Type="http://schemas.openxmlformats.org/officeDocument/2006/relationships/font" Target="fonts/Raleway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Raleway-boldItalic.fntdata"/><Relationship Id="rId6" Type="http://schemas.openxmlformats.org/officeDocument/2006/relationships/slide" Target="slides/slide1.xml"/><Relationship Id="rId18" Type="http://schemas.openxmlformats.org/officeDocument/2006/relationships/font" Target="fonts/Raleway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Grounded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Blocked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D0DCE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305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7A9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10.96</c:v>
                </c:pt>
                <c:pt idx="1">
                  <c:v>0.07</c:v>
                </c:pt>
                <c:pt idx="2">
                  <c:v>0.04</c:v>
                </c:pt>
                <c:pt idx="3">
                  <c:v>0.03</c:v>
                </c:pt>
                <c:pt idx="4">
                  <c:v>1.07</c:v>
                </c:pt>
                <c:pt idx="5">
                  <c:v>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F0A5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4.97</c:v>
                </c:pt>
                <c:pt idx="1">
                  <c:v>0.2</c:v>
                </c:pt>
                <c:pt idx="2">
                  <c:v>0.02</c:v>
                </c:pt>
                <c:pt idx="3">
                  <c:v>0.02</c:v>
                </c:pt>
                <c:pt idx="4">
                  <c:v>0.66</c:v>
                </c:pt>
                <c:pt idx="5">
                  <c:v>2.86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D0DCE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305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0" name="Google Shape;9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d39242756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dd39242756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dd39242756_3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8" name="Google Shape;15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7" name="Google Shape;25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4" name="Google Shape;32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3" name="Google Shape;3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2" name="Google Shape;39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3" name="Google Shape;4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dd39233c08_0_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g3dd39233c08_0_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7" name="Google Shape;17;g3dd39233c08_0_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dd39233c08_0_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" name="Google Shape;19;g3dd39233c08_0_4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g3dd39233c08_0_4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1" name="Google Shape;21;g3dd39233c08_0_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g3dd39233c08_0_1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4" name="Google Shape;24;g3dd39233c08_0_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g3dd39233c08_0_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" name="Google Shape;26;g3dd39233c08_0_12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g3dd39233c08_0_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dd39233c08_0_18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" name="Google Shape;30;g3dd39233c08_0_18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1" name="Google Shape;31;g3dd39233c08_0_1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dd39233c08_0_1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" name="Google Shape;33;g3dd39233c08_0_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4" name="Google Shape;34;g3dd39233c08_0_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5" name="Google Shape;35;g3dd39233c08_0_1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dd39233c08_0_2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" name="Google Shape;38;g3dd39233c08_0_2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9" name="Google Shape;39;g3dd39233c08_0_2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g3dd39233c08_0_2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" name="Google Shape;41;g3dd39233c08_0_2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2" name="Google Shape;42;g3dd39233c08_0_26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3" name="Google Shape;43;g3dd39233c08_0_26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4" name="Google Shape;44;g3dd39233c08_0_2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dd39233c08_0_3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" name="Google Shape;47;g3dd39233c08_0_3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8" name="Google Shape;48;g3dd39233c08_0_3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dd39233c08_0_3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" name="Google Shape;50;g3dd39233c08_0_3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1" name="Google Shape;51;g3dd39233c08_0_3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d39233c08_0_4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g3dd39233c08_0_4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5" name="Google Shape;55;g3dd39233c08_0_4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dd39233c08_0_4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dd39233c08_0_42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8" name="Google Shape;58;g3dd39233c08_0_42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9" name="Google Shape;59;g3dd39233c08_0_4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g3dd39233c08_0_50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2" name="Google Shape;62;g3dd39233c08_0_5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g3dd39233c08_0_5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" name="Google Shape;64;g3dd39233c08_0_50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g3dd39233c08_0_5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d39233c08_0_56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" name="Google Shape;68;g3dd39233c08_0_5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g3dd39233c08_0_5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g3dd39233c08_0_5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" name="Google Shape;71;g3dd39233c08_0_56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2" name="Google Shape;72;g3dd39233c08_0_56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73" name="Google Shape;73;g3dd39233c08_0_56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4" name="Google Shape;74;g3dd39233c08_0_5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d39233c08_0_65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7" name="Google Shape;77;g3dd39233c08_0_6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g3dd39233c08_0_6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0" name="Google Shape;80;g3dd39233c08_0_6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g3dd39233c08_0_6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2" name="Google Shape;82;g3dd39233c08_0_68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g3dd39233c08_0_68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" name="Google Shape;84;g3dd39233c08_0_6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d39233c08_0_7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dd39233c08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11" name="Google Shape;11;g3dd39233c08_0_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b="0" i="0" sz="13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2" name="Google Shape;12;g3dd39233c08_0_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chart" Target="../charts/chart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617220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228600" y="256032"/>
            <a:ext cx="5669280" cy="47548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228600" y="256032"/>
            <a:ext cx="56692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1600" lIns="101600" spcFirstLastPara="1" rIns="101600" wrap="square" tIns="10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PROJECT B.A.N.A.N.A.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238072" y="868680"/>
            <a:ext cx="5669400" cy="25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Reducing Hallucination in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Financial AI Through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Retrieval-Augmented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Design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228600" y="3456432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Brokerage Analytic Network &amp; Autonomous Node Assistant</a:t>
            </a:r>
            <a:endParaRPr b="0" i="0" sz="1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228600" y="3950208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000"/>
              <a:buFont typeface="Calibri"/>
              <a:buNone/>
            </a:pPr>
            <a:r>
              <a:rPr i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Gangadhar Singh Shiva  ·  Akshobhya Rao BV  ·  Ananya Chandraker</a:t>
            </a:r>
            <a:endParaRPr i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000"/>
              <a:buFont typeface="Calibri"/>
              <a:buNone/>
            </a:pPr>
            <a:r>
              <a:rPr i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MS Applied Artificial Intelligence · University of San Diego</a:t>
            </a:r>
            <a:endParaRPr i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6400800" y="27432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6400800" y="749808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83.3%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6400800" y="1252728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Attack Deflection 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6400800" y="1773936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0/3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6400800" y="2276856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Probes Leaked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>
            <a:off x="6400800" y="2798064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>
            <a:off x="6400800" y="3300984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Latency Speedup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/>
          <p:nvPr/>
        </p:nvSpPr>
        <p:spPr>
          <a:xfrm>
            <a:off x="6400800" y="3822192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6400800" y="4325112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Defence Guard Layers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"/>
          <p:cNvSpPr/>
          <p:nvPr/>
        </p:nvSpPr>
        <p:spPr>
          <a:xfrm>
            <a:off x="137160" y="4773168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Shiley Marcos School of Engineering · April 2026  |  Technical Report MSAAI-2026-05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Problem: Hallucination in Financial AI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28600" y="914400"/>
            <a:ext cx="4206240" cy="356616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320040" y="10058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Why Hallucination Is Critical in Finance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320040" y="1444752"/>
            <a:ext cx="40233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LLMs routinely produce statements that sound credible but cannot be traced to any verified source — a phenomenon termed </a:t>
            </a:r>
            <a:r>
              <a:rPr b="1" i="0" lang="en-US" sz="11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hallucination</a:t>
            </a: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 financial contexts, even a single fabricated revenue figure or misattributed SEC filing can constitute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material misinformation</a:t>
            </a: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 — carrying serious regulatory and reputational consequences.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320040" y="3319272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320040" y="3319272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/>
          <p:nvPr/>
        </p:nvSpPr>
        <p:spPr>
          <a:xfrm>
            <a:off x="438912" y="3319272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Numeric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1682496" y="3319272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Fabricated prices, revenues, or financial figures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320040" y="3666744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/>
          <p:nvPr/>
        </p:nvSpPr>
        <p:spPr>
          <a:xfrm>
            <a:off x="320040" y="3666744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438912" y="3666744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Temporal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1682496" y="366674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Stale data presented as current information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320040" y="4014216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320040" y="4014216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438912" y="4014216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Attribution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1682496" y="40142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Claims assigned to wrong sources or companies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4709160" y="914400"/>
            <a:ext cx="4206240" cy="356616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4800600" y="10058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Research Evidence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4800600" y="1481328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/>
          <p:nvPr/>
        </p:nvSpPr>
        <p:spPr>
          <a:xfrm>
            <a:off x="4892040" y="1517904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Bang et al., 2023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4892040" y="175564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rates high enough to disqualify raw LLM output for financial use without explicit grounding.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"/>
          <p:cNvSpPr/>
          <p:nvPr/>
        </p:nvSpPr>
        <p:spPr>
          <a:xfrm>
            <a:off x="4800600" y="2377440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"/>
          <p:cNvSpPr/>
          <p:nvPr/>
        </p:nvSpPr>
        <p:spPr>
          <a:xfrm>
            <a:off x="4892040" y="2414016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Gao et al., 2023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"/>
          <p:cNvSpPr/>
          <p:nvPr/>
        </p:nvSpPr>
        <p:spPr>
          <a:xfrm>
            <a:off x="4892040" y="26517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RAG reduces hallucination by 30–60% across knowledge-intensive benchmarks.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"/>
          <p:cNvSpPr/>
          <p:nvPr/>
        </p:nvSpPr>
        <p:spPr>
          <a:xfrm>
            <a:off x="4800600" y="3273552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"/>
          <p:cNvSpPr/>
          <p:nvPr/>
        </p:nvSpPr>
        <p:spPr>
          <a:xfrm>
            <a:off x="4892040" y="3310128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Shuster et al., 2021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"/>
          <p:cNvSpPr/>
          <p:nvPr/>
        </p:nvSpPr>
        <p:spPr>
          <a:xfrm>
            <a:off x="4892040" y="354787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Retrieval-grounded systems cut factual hallucination by 54% vs. generation-only.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"/>
          <p:cNvSpPr/>
          <p:nvPr/>
        </p:nvSpPr>
        <p:spPr>
          <a:xfrm>
            <a:off x="4800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Our response: Project B.A.N.A.N.A. — a 7-layer defence architecture with LLM-free answer assembly.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g3dd39242756_3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81775" y="896750"/>
            <a:ext cx="4375948" cy="2709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Architecture: Three-Layer Design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182880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182880" y="896112"/>
            <a:ext cx="2834640" cy="3840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256032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1: Outer Peel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256032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MCP Data Source Servers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310896" y="1773936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530352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Alpha Vantage OHLCV (banana-market)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310896" y="2249424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530352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SEC EDGAR Filings (banana-sec)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/>
          <p:nvPr/>
        </p:nvSpPr>
        <p:spPr>
          <a:xfrm>
            <a:off x="310896" y="2724912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530352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Twitter/X Social Sentiment (banana-social)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256032" y="3255264"/>
            <a:ext cx="2688336" cy="1828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256032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Live data fetched at inference time — no static training corpus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3172968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3172968" y="896112"/>
            <a:ext cx="2834640" cy="3840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3246120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2: The Pulp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3246120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LangGraph Agentic Pipeline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3300984" y="1773936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"/>
          <p:cNvSpPr/>
          <p:nvPr/>
        </p:nvSpPr>
        <p:spPr>
          <a:xfrm>
            <a:off x="3520440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11-node DAG with typed AgentState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/>
          <p:nvPr/>
        </p:nvSpPr>
        <p:spPr>
          <a:xfrm>
            <a:off x="3300984" y="2249424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3520440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Guard nodes with fail-fast pattern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3300984" y="2724912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3520440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FinBERT sentiment analysis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3246120" y="3255264"/>
            <a:ext cx="2688336" cy="1828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3246120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Orchestrates retrieval, validation, and answer assembly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"/>
          <p:cNvSpPr/>
          <p:nvPr/>
        </p:nvSpPr>
        <p:spPr>
          <a:xfrm>
            <a:off x="6163056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"/>
          <p:cNvSpPr/>
          <p:nvPr/>
        </p:nvSpPr>
        <p:spPr>
          <a:xfrm>
            <a:off x="6163056" y="896112"/>
            <a:ext cx="2834640" cy="38404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6236208" y="896112"/>
            <a:ext cx="2688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3: The 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"/>
          <p:cNvSpPr/>
          <p:nvPr/>
        </p:nvSpPr>
        <p:spPr>
          <a:xfrm>
            <a:off x="6236208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Vector Store &amp; Model Backbone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6291072" y="1773936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6510528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ChromaDB persistent vector store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6291072" y="2249424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510528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all-MiniLM-L6-v2 (384-dim embeddings)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6291072" y="2724912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6510528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ProsusAI/FinBERT (finance sentiment)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6236208" y="3255264"/>
            <a:ext cx="2688336" cy="1828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236208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Within-session storage with cosine similarity retrieval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3044952" y="2359152"/>
            <a:ext cx="128016" cy="5486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6035040" y="2359152"/>
            <a:ext cx="128016" cy="5486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182880" y="4553712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950"/>
              <a:buFont typeface="Calibri"/>
              <a:buNone/>
            </a:pPr>
            <a:r>
              <a:rPr b="1" i="1" lang="en-US" sz="9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Key Design Decision: Answer assembly uses direct document concatenation — LLM generation is removed entirely from the final output stage.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4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Seven-Layer Defence-in-Depth Architecture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4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4"/>
          <p:cNvSpPr/>
          <p:nvPr/>
        </p:nvSpPr>
        <p:spPr>
          <a:xfrm>
            <a:off x="228600" y="896112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"/>
          <p:cNvSpPr/>
          <p:nvPr/>
        </p:nvSpPr>
        <p:spPr>
          <a:xfrm>
            <a:off x="228600" y="89611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658368" y="90525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intent_node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2880360" y="90525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Advisory keyword blacklist — blocks buy/sell/predict queries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228600" y="1389888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"/>
          <p:cNvSpPr/>
          <p:nvPr/>
        </p:nvSpPr>
        <p:spPr>
          <a:xfrm>
            <a:off x="228600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4"/>
          <p:cNvSpPr/>
          <p:nvPr/>
        </p:nvSpPr>
        <p:spPr>
          <a:xfrm>
            <a:off x="658368" y="139903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fetch_node (1)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"/>
          <p:cNvSpPr/>
          <p:nvPr/>
        </p:nvSpPr>
        <p:spPr>
          <a:xfrm>
            <a:off x="2880360" y="139903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ENTITY_REGISTRY lookup — blocks fictional company hallucination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4"/>
          <p:cNvSpPr/>
          <p:nvPr/>
        </p:nvSpPr>
        <p:spPr>
          <a:xfrm>
            <a:off x="228600" y="1883664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"/>
          <p:cNvSpPr/>
          <p:nvPr/>
        </p:nvSpPr>
        <p:spPr>
          <a:xfrm>
            <a:off x="228600" y="188366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4"/>
          <p:cNvSpPr/>
          <p:nvPr/>
        </p:nvSpPr>
        <p:spPr>
          <a:xfrm>
            <a:off x="658368" y="189280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fetch_node (2)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2880360" y="1892808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Year whitelist [2022–2024] — blocks future document fabrication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228600" y="2377440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228600" y="2377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"/>
          <p:cNvSpPr/>
          <p:nvPr/>
        </p:nvSpPr>
        <p:spPr>
          <a:xfrm>
            <a:off x="658368" y="2386584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validate_node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"/>
          <p:cNvSpPr/>
          <p:nvPr/>
        </p:nvSpPr>
        <p:spPr>
          <a:xfrm>
            <a:off x="2880360" y="2386584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4-criterion quality check — blocks invalid/placeholder MCP responses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4"/>
          <p:cNvSpPr/>
          <p:nvPr/>
        </p:nvSpPr>
        <p:spPr>
          <a:xfrm>
            <a:off x="228600" y="2871216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228600" y="287121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658368" y="2880360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ticker_guard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2880360" y="2880360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Per-document ticker match — blocks cross-ticker contamination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/>
          <p:nvPr/>
        </p:nvSpPr>
        <p:spPr>
          <a:xfrm>
            <a:off x="228600" y="3364992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"/>
          <p:cNvSpPr/>
          <p:nvPr/>
        </p:nvSpPr>
        <p:spPr>
          <a:xfrm>
            <a:off x="228600" y="33649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/>
          <p:nvPr/>
        </p:nvSpPr>
        <p:spPr>
          <a:xfrm>
            <a:off x="658368" y="337413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evaluate_node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4"/>
          <p:cNvSpPr/>
          <p:nvPr/>
        </p:nvSpPr>
        <p:spPr>
          <a:xfrm>
            <a:off x="2880360" y="337413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Cosine similarity ≥ 0.55 — blocks low-relevance grounding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4"/>
          <p:cNvSpPr/>
          <p:nvPr/>
        </p:nvSpPr>
        <p:spPr>
          <a:xfrm>
            <a:off x="228600" y="3858768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"/>
          <p:cNvSpPr/>
          <p:nvPr/>
        </p:nvSpPr>
        <p:spPr>
          <a:xfrm>
            <a:off x="228600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4"/>
          <p:cNvSpPr/>
          <p:nvPr/>
        </p:nvSpPr>
        <p:spPr>
          <a:xfrm>
            <a:off x="658368" y="386791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reflection_node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4"/>
          <p:cNvSpPr/>
          <p:nvPr/>
        </p:nvSpPr>
        <p:spPr>
          <a:xfrm>
            <a:off x="2880360" y="386791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FinBERT confidence ≥ 0.70 — blocks low-confidence reports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4"/>
          <p:cNvSpPr/>
          <p:nvPr/>
        </p:nvSpPr>
        <p:spPr>
          <a:xfrm>
            <a:off x="6583680" y="896112"/>
            <a:ext cx="237744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"/>
          <p:cNvSpPr/>
          <p:nvPr/>
        </p:nvSpPr>
        <p:spPr>
          <a:xfrm>
            <a:off x="6675120" y="96012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Fail-Fast Pattern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4"/>
          <p:cNvSpPr/>
          <p:nvPr/>
        </p:nvSpPr>
        <p:spPr>
          <a:xfrm>
            <a:off x="6675120" y="137160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Any node detecting a fatal condition sets block_reason — all downstream nodes skip execution immediately.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4"/>
          <p:cNvSpPr/>
          <p:nvPr/>
        </p:nvSpPr>
        <p:spPr>
          <a:xfrm>
            <a:off x="6675120" y="2304288"/>
            <a:ext cx="2194560" cy="18288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"/>
          <p:cNvSpPr/>
          <p:nvPr/>
        </p:nvSpPr>
        <p:spPr>
          <a:xfrm>
            <a:off x="6675120" y="237744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Vulnerability Fixes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6675120" y="2788920"/>
            <a:ext cx="2194560" cy="512064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6748272" y="2816352"/>
            <a:ext cx="2048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Social Sentinel Bypass → not_placeholder check added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4"/>
          <p:cNvSpPr/>
          <p:nvPr/>
        </p:nvSpPr>
        <p:spPr>
          <a:xfrm>
            <a:off x="6675120" y="3392424"/>
            <a:ext cx="2194560" cy="512064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"/>
          <p:cNvSpPr/>
          <p:nvPr/>
        </p:nvSpPr>
        <p:spPr>
          <a:xfrm>
            <a:off x="6748272" y="3419856"/>
            <a:ext cx="2048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Cross-Ticker Contamination → ticker_guard_node inserted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6675120" y="4059936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Post-fix: blocked rate ↑ 78.6% → 88.2%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11-Node LangGraph Pipeline &amp; ML Models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164592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164592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intent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832104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969264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969264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1636776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1773936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1773936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2441448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2578608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2578608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store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3246120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"/>
          <p:cNvSpPr/>
          <p:nvPr/>
        </p:nvSpPr>
        <p:spPr>
          <a:xfrm>
            <a:off x="3383280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3383280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retrieve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4050792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5"/>
          <p:cNvSpPr/>
          <p:nvPr/>
        </p:nvSpPr>
        <p:spPr>
          <a:xfrm>
            <a:off x="4187952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"/>
          <p:cNvSpPr/>
          <p:nvPr/>
        </p:nvSpPr>
        <p:spPr>
          <a:xfrm>
            <a:off x="4187952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ticker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guard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5"/>
          <p:cNvSpPr/>
          <p:nvPr/>
        </p:nvSpPr>
        <p:spPr>
          <a:xfrm>
            <a:off x="4494276" y="1444752"/>
            <a:ext cx="54864" cy="23774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5"/>
          <p:cNvSpPr/>
          <p:nvPr/>
        </p:nvSpPr>
        <p:spPr>
          <a:xfrm>
            <a:off x="3383280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5"/>
          <p:cNvSpPr/>
          <p:nvPr/>
        </p:nvSpPr>
        <p:spPr>
          <a:xfrm>
            <a:off x="3383280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evaluate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5"/>
          <p:cNvSpPr/>
          <p:nvPr/>
        </p:nvSpPr>
        <p:spPr>
          <a:xfrm>
            <a:off x="3246120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"/>
          <p:cNvSpPr/>
          <p:nvPr/>
        </p:nvSpPr>
        <p:spPr>
          <a:xfrm>
            <a:off x="2578608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"/>
          <p:cNvSpPr/>
          <p:nvPr/>
        </p:nvSpPr>
        <p:spPr>
          <a:xfrm>
            <a:off x="2578608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answer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5"/>
          <p:cNvSpPr/>
          <p:nvPr/>
        </p:nvSpPr>
        <p:spPr>
          <a:xfrm>
            <a:off x="2441448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5"/>
          <p:cNvSpPr/>
          <p:nvPr/>
        </p:nvSpPr>
        <p:spPr>
          <a:xfrm>
            <a:off x="1773936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5"/>
          <p:cNvSpPr/>
          <p:nvPr/>
        </p:nvSpPr>
        <p:spPr>
          <a:xfrm>
            <a:off x="1773936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analyst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5"/>
          <p:cNvSpPr/>
          <p:nvPr/>
        </p:nvSpPr>
        <p:spPr>
          <a:xfrm>
            <a:off x="1636776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5"/>
          <p:cNvSpPr/>
          <p:nvPr/>
        </p:nvSpPr>
        <p:spPr>
          <a:xfrm>
            <a:off x="969264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5"/>
          <p:cNvSpPr/>
          <p:nvPr/>
        </p:nvSpPr>
        <p:spPr>
          <a:xfrm>
            <a:off x="969264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reflection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5"/>
          <p:cNvSpPr/>
          <p:nvPr/>
        </p:nvSpPr>
        <p:spPr>
          <a:xfrm>
            <a:off x="832104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5"/>
          <p:cNvSpPr/>
          <p:nvPr/>
        </p:nvSpPr>
        <p:spPr>
          <a:xfrm>
            <a:off x="164592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5"/>
          <p:cNvSpPr/>
          <p:nvPr/>
        </p:nvSpPr>
        <p:spPr>
          <a:xfrm>
            <a:off x="164592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scribe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5"/>
          <p:cNvSpPr/>
          <p:nvPr/>
        </p:nvSpPr>
        <p:spPr>
          <a:xfrm>
            <a:off x="164592" y="230428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NODE TYPES: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5"/>
          <p:cNvSpPr/>
          <p:nvPr/>
        </p:nvSpPr>
        <p:spPr>
          <a:xfrm>
            <a:off x="1371600" y="2340864"/>
            <a:ext cx="201168" cy="201168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5"/>
          <p:cNvSpPr/>
          <p:nvPr/>
        </p:nvSpPr>
        <p:spPr>
          <a:xfrm>
            <a:off x="162763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Guard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5"/>
          <p:cNvSpPr/>
          <p:nvPr/>
        </p:nvSpPr>
        <p:spPr>
          <a:xfrm>
            <a:off x="3291840" y="2340864"/>
            <a:ext cx="201168" cy="2011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5"/>
          <p:cNvSpPr/>
          <p:nvPr/>
        </p:nvSpPr>
        <p:spPr>
          <a:xfrm>
            <a:off x="354787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Enricher/Retriever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5"/>
          <p:cNvSpPr/>
          <p:nvPr/>
        </p:nvSpPr>
        <p:spPr>
          <a:xfrm>
            <a:off x="5212080" y="2340864"/>
            <a:ext cx="201168" cy="20116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5"/>
          <p:cNvSpPr/>
          <p:nvPr/>
        </p:nvSpPr>
        <p:spPr>
          <a:xfrm>
            <a:off x="546811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Agent (ML)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5"/>
          <p:cNvSpPr/>
          <p:nvPr/>
        </p:nvSpPr>
        <p:spPr>
          <a:xfrm>
            <a:off x="7132320" y="2340864"/>
            <a:ext cx="201168" cy="20116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5"/>
          <p:cNvSpPr/>
          <p:nvPr/>
        </p:nvSpPr>
        <p:spPr>
          <a:xfrm>
            <a:off x="738835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5"/>
          <p:cNvSpPr/>
          <p:nvPr/>
        </p:nvSpPr>
        <p:spPr>
          <a:xfrm>
            <a:off x="164592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5"/>
          <p:cNvSpPr/>
          <p:nvPr/>
        </p:nvSpPr>
        <p:spPr>
          <a:xfrm>
            <a:off x="164592" y="2697480"/>
            <a:ext cx="2834640" cy="32918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5"/>
          <p:cNvSpPr/>
          <p:nvPr/>
        </p:nvSpPr>
        <p:spPr>
          <a:xfrm>
            <a:off x="237744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all-MiniLM-L6-v2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5"/>
          <p:cNvSpPr/>
          <p:nvPr/>
        </p:nvSpPr>
        <p:spPr>
          <a:xfrm>
            <a:off x="256032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6-layer BERT · 22M params · 384-dim embeddings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5"/>
          <p:cNvSpPr/>
          <p:nvPr/>
        </p:nvSpPr>
        <p:spPr>
          <a:xfrm>
            <a:off x="256032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Sentence embedding for indexing &amp; querying ChromaDB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5"/>
          <p:cNvSpPr/>
          <p:nvPr/>
        </p:nvSpPr>
        <p:spPr>
          <a:xfrm>
            <a:off x="3154680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5"/>
          <p:cNvSpPr/>
          <p:nvPr/>
        </p:nvSpPr>
        <p:spPr>
          <a:xfrm>
            <a:off x="3154680" y="2697480"/>
            <a:ext cx="2834640" cy="32918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5"/>
          <p:cNvSpPr/>
          <p:nvPr/>
        </p:nvSpPr>
        <p:spPr>
          <a:xfrm>
            <a:off x="3227832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ProsusAI/FinBERT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5"/>
          <p:cNvSpPr/>
          <p:nvPr/>
        </p:nvSpPr>
        <p:spPr>
          <a:xfrm>
            <a:off x="3246120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BERT-base fine-tuned · Financial PhraseBank · 4,846 sentences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5"/>
          <p:cNvSpPr/>
          <p:nvPr/>
        </p:nvSpPr>
        <p:spPr>
          <a:xfrm>
            <a:off x="3246120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3-class sentiment (pos/neg/neutral) · 73.47% accuracy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5"/>
          <p:cNvSpPr/>
          <p:nvPr/>
        </p:nvSpPr>
        <p:spPr>
          <a:xfrm>
            <a:off x="6144768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5"/>
          <p:cNvSpPr/>
          <p:nvPr/>
        </p:nvSpPr>
        <p:spPr>
          <a:xfrm>
            <a:off x="6144768" y="2697480"/>
            <a:ext cx="2834640" cy="32918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5"/>
          <p:cNvSpPr/>
          <p:nvPr/>
        </p:nvSpPr>
        <p:spPr>
          <a:xfrm>
            <a:off x="6217920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TinyLlama (Baseline)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5"/>
          <p:cNvSpPr/>
          <p:nvPr/>
        </p:nvSpPr>
        <p:spPr>
          <a:xfrm>
            <a:off x="6236208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Baseline LLM comparison only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5"/>
          <p:cNvSpPr/>
          <p:nvPr/>
        </p:nvSpPr>
        <p:spPr>
          <a:xfrm>
            <a:off x="6236208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Replaced by direct document concatenation in OPTIMIZED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6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6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6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 Results: April 2, 2026 — Live API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6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6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6"/>
          <p:cNvSpPr/>
          <p:nvPr/>
        </p:nvSpPr>
        <p:spPr>
          <a:xfrm>
            <a:off x="164592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219456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83.3%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6"/>
          <p:cNvSpPr/>
          <p:nvPr/>
        </p:nvSpPr>
        <p:spPr>
          <a:xfrm>
            <a:off x="219456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Attack Deflection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6"/>
          <p:cNvSpPr/>
          <p:nvPr/>
        </p:nvSpPr>
        <p:spPr>
          <a:xfrm>
            <a:off x="2231136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6"/>
          <p:cNvSpPr/>
          <p:nvPr/>
        </p:nvSpPr>
        <p:spPr>
          <a:xfrm>
            <a:off x="2286000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0 / 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6"/>
          <p:cNvSpPr/>
          <p:nvPr/>
        </p:nvSpPr>
        <p:spPr>
          <a:xfrm>
            <a:off x="2286000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Probes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6"/>
          <p:cNvSpPr/>
          <p:nvPr/>
        </p:nvSpPr>
        <p:spPr>
          <a:xfrm>
            <a:off x="4297680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"/>
          <p:cNvSpPr/>
          <p:nvPr/>
        </p:nvSpPr>
        <p:spPr>
          <a:xfrm>
            <a:off x="4352544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18 / 18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6"/>
          <p:cNvSpPr/>
          <p:nvPr/>
        </p:nvSpPr>
        <p:spPr>
          <a:xfrm>
            <a:off x="4352544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Grounded Responses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6364224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FFC8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6"/>
          <p:cNvSpPr/>
          <p:nvPr/>
        </p:nvSpPr>
        <p:spPr>
          <a:xfrm>
            <a:off x="6419088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6419088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Latency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6"/>
          <p:cNvSpPr/>
          <p:nvPr/>
        </p:nvSpPr>
        <p:spPr>
          <a:xfrm>
            <a:off x="164592" y="2084832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Block Reason Breakdown — 15 Blocked Queries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5" name="Google Shape;345;p6"/>
          <p:cNvGraphicFramePr/>
          <p:nvPr/>
        </p:nvGraphicFramePr>
        <p:xfrm>
          <a:off x="164592" y="24505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{FD43506A-E28F-452B-B74A-E9CF319D02CF}</a:tableStyleId>
              </a:tblPr>
              <a:tblGrid>
                <a:gridCol w="2834650"/>
                <a:gridCol w="731525"/>
                <a:gridCol w="1737350"/>
              </a:tblGrid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 Reason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BLOCKED_ADVISORY_QUERY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Advisory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BLOCKED_STALE_DOCUMENTS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HAL + Factual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BLOCKED_UNKNOWN_ENTITY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Nonexistent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BLOCKED_UNSUPPORTED_YEAR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Fabricated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BLOCKED_INVALID_TOOL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Confidential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BLOCKED_LOW_SIMILARITY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HAL Probe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</a:tbl>
          </a:graphicData>
        </a:graphic>
      </p:graphicFrame>
      <p:sp>
        <p:nvSpPr>
          <p:cNvPr id="346" name="Google Shape;346;p6"/>
          <p:cNvSpPr/>
          <p:nvPr/>
        </p:nvSpPr>
        <p:spPr>
          <a:xfrm>
            <a:off x="5669280" y="208483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Outcome by Category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7" name="Google Shape;347;p6"/>
          <p:cNvGraphicFramePr/>
          <p:nvPr/>
        </p:nvGraphicFramePr>
        <p:xfrm>
          <a:off x="5577840" y="2377440"/>
          <a:ext cx="3383280" cy="201168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348" name="Google Shape;348;p6"/>
          <p:cNvSpPr/>
          <p:nvPr/>
        </p:nvSpPr>
        <p:spPr>
          <a:xfrm>
            <a:off x="164592" y="4425696"/>
            <a:ext cx="8778240" cy="25603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6"/>
          <p:cNvSpPr/>
          <p:nvPr/>
        </p:nvSpPr>
        <p:spPr>
          <a:xfrm>
            <a:off x="228600" y="4425696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Pre-fix: 2 probes leaked · blocked 78.6%  →  Post-fix: 0 probes leaked · blocked 88.2%  (first clean full-probe sweep in project history)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7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7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Performance: Latency &amp; Throughput Analysis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7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7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>
            <a:off x="164592" y="896112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Average Response Latency by Category (seconds)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2" name="Google Shape;362;p7"/>
          <p:cNvGraphicFramePr/>
          <p:nvPr/>
        </p:nvGraphicFramePr>
        <p:xfrm>
          <a:off x="164592" y="1225296"/>
          <a:ext cx="5394960" cy="306324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63" name="Google Shape;363;p7"/>
          <p:cNvSpPr/>
          <p:nvPr/>
        </p:nvSpPr>
        <p:spPr>
          <a:xfrm>
            <a:off x="5806440" y="896112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Per-Category Speedup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7"/>
          <p:cNvSpPr/>
          <p:nvPr/>
        </p:nvSpPr>
        <p:spPr>
          <a:xfrm>
            <a:off x="5806440" y="1261872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7"/>
          <p:cNvSpPr/>
          <p:nvPr/>
        </p:nvSpPr>
        <p:spPr>
          <a:xfrm>
            <a:off x="5870448" y="126187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Category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7"/>
          <p:cNvSpPr/>
          <p:nvPr/>
        </p:nvSpPr>
        <p:spPr>
          <a:xfrm>
            <a:off x="7726680" y="1261872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5806440" y="1645920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"/>
          <p:cNvSpPr/>
          <p:nvPr/>
        </p:nvSpPr>
        <p:spPr>
          <a:xfrm>
            <a:off x="5870448" y="16459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FACTUAL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7"/>
          <p:cNvSpPr/>
          <p:nvPr/>
        </p:nvSpPr>
        <p:spPr>
          <a:xfrm>
            <a:off x="7726680" y="1645920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2.2×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7"/>
          <p:cNvSpPr/>
          <p:nvPr/>
        </p:nvSpPr>
        <p:spPr>
          <a:xfrm>
            <a:off x="5806440" y="2029968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"/>
          <p:cNvSpPr/>
          <p:nvPr/>
        </p:nvSpPr>
        <p:spPr>
          <a:xfrm>
            <a:off x="5870448" y="202996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NONEXISTENT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7"/>
          <p:cNvSpPr/>
          <p:nvPr/>
        </p:nvSpPr>
        <p:spPr>
          <a:xfrm>
            <a:off x="7726680" y="202996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2.0×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7"/>
          <p:cNvSpPr/>
          <p:nvPr/>
        </p:nvSpPr>
        <p:spPr>
          <a:xfrm>
            <a:off x="5806440" y="2414016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"/>
          <p:cNvSpPr/>
          <p:nvPr/>
        </p:nvSpPr>
        <p:spPr>
          <a:xfrm>
            <a:off x="5870448" y="2414016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FABRICATED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7"/>
          <p:cNvSpPr/>
          <p:nvPr/>
        </p:nvSpPr>
        <p:spPr>
          <a:xfrm>
            <a:off x="7726680" y="2414016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1.5×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7"/>
          <p:cNvSpPr/>
          <p:nvPr/>
        </p:nvSpPr>
        <p:spPr>
          <a:xfrm>
            <a:off x="5806440" y="2798064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"/>
          <p:cNvSpPr/>
          <p:nvPr/>
        </p:nvSpPr>
        <p:spPr>
          <a:xfrm>
            <a:off x="5870448" y="2798064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CONFIDENTIAL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7"/>
          <p:cNvSpPr/>
          <p:nvPr/>
        </p:nvSpPr>
        <p:spPr>
          <a:xfrm>
            <a:off x="7726680" y="2798064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1.6×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7"/>
          <p:cNvSpPr/>
          <p:nvPr/>
        </p:nvSpPr>
        <p:spPr>
          <a:xfrm>
            <a:off x="5806440" y="3182112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"/>
          <p:cNvSpPr/>
          <p:nvPr/>
        </p:nvSpPr>
        <p:spPr>
          <a:xfrm>
            <a:off x="5870448" y="318211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HAL_PROBE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7"/>
          <p:cNvSpPr/>
          <p:nvPr/>
        </p:nvSpPr>
        <p:spPr>
          <a:xfrm>
            <a:off x="7726680" y="3182112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0.91×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7"/>
          <p:cNvSpPr/>
          <p:nvPr/>
        </p:nvSpPr>
        <p:spPr>
          <a:xfrm>
            <a:off x="5806440" y="3566160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7"/>
          <p:cNvSpPr/>
          <p:nvPr/>
        </p:nvSpPr>
        <p:spPr>
          <a:xfrm>
            <a:off x="5870448" y="356616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ADVISORY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7"/>
          <p:cNvSpPr/>
          <p:nvPr/>
        </p:nvSpPr>
        <p:spPr>
          <a:xfrm>
            <a:off x="7726680" y="3566160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0.35×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7"/>
          <p:cNvSpPr/>
          <p:nvPr/>
        </p:nvSpPr>
        <p:spPr>
          <a:xfrm>
            <a:off x="5806440" y="3950208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"/>
          <p:cNvSpPr/>
          <p:nvPr/>
        </p:nvSpPr>
        <p:spPr>
          <a:xfrm>
            <a:off x="5870448" y="3950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OVERALL AVG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7"/>
          <p:cNvSpPr/>
          <p:nvPr/>
        </p:nvSpPr>
        <p:spPr>
          <a:xfrm>
            <a:off x="7726680" y="395020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7"/>
          <p:cNvSpPr/>
          <p:nvPr/>
        </p:nvSpPr>
        <p:spPr>
          <a:xfrm>
            <a:off x="164592" y="4370832"/>
            <a:ext cx="87782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FACTUAL category: TinyLlama generation avg 10.96 s vs RAG cached retrieval 4.97 s  |  Guard-blocked categories respond in &lt; 0.2 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8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8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Findings &amp; Discussion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8"/>
          <p:cNvSpPr/>
          <p:nvPr/>
        </p:nvSpPr>
        <p:spPr>
          <a:xfrm>
            <a:off x="164592" y="89611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"/>
          <p:cNvSpPr/>
          <p:nvPr/>
        </p:nvSpPr>
        <p:spPr>
          <a:xfrm>
            <a:off x="164592" y="896112"/>
            <a:ext cx="73152" cy="1755648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329184" y="9875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850392" y="98755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Evaluation Mode Problem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329184" y="140817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In-process benchmarking leaked all 3 probes; live API blocked all 3. Guard chain only activates through the FastAPI endpoint. RAG safety evaluation must be end-to-end.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/>
          <p:nvPr/>
        </p:nvSpPr>
        <p:spPr>
          <a:xfrm>
            <a:off x="4663440" y="89611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/>
          <p:nvPr/>
        </p:nvSpPr>
        <p:spPr>
          <a:xfrm>
            <a:off x="4663440" y="896112"/>
            <a:ext cx="73152" cy="17556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4828032" y="9875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5349240" y="98755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grounded=True is Insufficient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4828032" y="140817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rate reported 0.0 even with 2 active vulnerabilities. A grounded flag confirms an answer was produced — not that retrieved content is correct or temporally aligned.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/>
          <p:nvPr/>
        </p:nvSpPr>
        <p:spPr>
          <a:xfrm>
            <a:off x="164592" y="281635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/>
          <p:nvPr/>
        </p:nvSpPr>
        <p:spPr>
          <a:xfrm>
            <a:off x="164592" y="2816352"/>
            <a:ext cx="73152" cy="17556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329184" y="290779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850392" y="290779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LLM-Free Assembly: Trade-offs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/>
          <p:nvPr/>
        </p:nvSpPr>
        <p:spPr>
          <a:xfrm>
            <a:off x="329184" y="332841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Architectural grounding guarantee achieved, but responses are raw document strings, not fluent prose. Acceptable for OHLCV / filing data; narrative synthesis requires a constrained generative stage.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/>
          <p:nvPr/>
        </p:nvSpPr>
        <p:spPr>
          <a:xfrm>
            <a:off x="4663440" y="281635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8"/>
          <p:cNvSpPr/>
          <p:nvPr/>
        </p:nvSpPr>
        <p:spPr>
          <a:xfrm>
            <a:off x="4663440" y="2816352"/>
            <a:ext cx="73152" cy="175564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4828032" y="290779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/>
          <p:nvPr/>
        </p:nvSpPr>
        <p:spPr>
          <a:xfrm>
            <a:off x="5349240" y="290779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FinBERT Accuracy: 73.47%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8"/>
          <p:cNvSpPr/>
          <p:nvPr/>
        </p:nvSpPr>
        <p:spPr>
          <a:xfrm>
            <a:off x="4828032" y="332841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Below 80% production threshold. Failures on implicit positives (M&amp;A) and social media idioms. Fix: fine-tune on social corpus or add VADER tiebreaker for short inputs (&lt; 15 tokens).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9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9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9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Future Work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9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9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9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9"/>
          <p:cNvSpPr/>
          <p:nvPr/>
        </p:nvSpPr>
        <p:spPr>
          <a:xfrm>
            <a:off x="164592" y="896112"/>
            <a:ext cx="502920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9"/>
          <p:cNvSpPr/>
          <p:nvPr/>
        </p:nvSpPr>
        <p:spPr>
          <a:xfrm>
            <a:off x="164592" y="896112"/>
            <a:ext cx="5029200" cy="347472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237744" y="896112"/>
            <a:ext cx="488289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What We Proved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9"/>
          <p:cNvSpPr/>
          <p:nvPr/>
        </p:nvSpPr>
        <p:spPr>
          <a:xfrm>
            <a:off x="274320" y="1389888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9"/>
          <p:cNvSpPr/>
          <p:nvPr/>
        </p:nvSpPr>
        <p:spPr>
          <a:xfrm>
            <a:off x="548640" y="1335024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Layered guard-based RAG with LLM-free assembly achieves zero measured hallucination on live financial queries.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9"/>
          <p:cNvSpPr/>
          <p:nvPr/>
        </p:nvSpPr>
        <p:spPr>
          <a:xfrm>
            <a:off x="274320" y="1874520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9"/>
          <p:cNvSpPr/>
          <p:nvPr/>
        </p:nvSpPr>
        <p:spPr>
          <a:xfrm>
            <a:off x="548640" y="1819656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7-layer defence blocked 83.3% of adversarial inputs across 6 threat categories.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9"/>
          <p:cNvSpPr/>
          <p:nvPr/>
        </p:nvSpPr>
        <p:spPr>
          <a:xfrm>
            <a:off x="274320" y="2359152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9"/>
          <p:cNvSpPr/>
          <p:nvPr/>
        </p:nvSpPr>
        <p:spPr>
          <a:xfrm>
            <a:off x="548640" y="2304288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All 3 hallucination probes contained in live API testing — first clean sweep in project history.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9"/>
          <p:cNvSpPr/>
          <p:nvPr/>
        </p:nvSpPr>
        <p:spPr>
          <a:xfrm>
            <a:off x="274320" y="2843784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9"/>
          <p:cNvSpPr/>
          <p:nvPr/>
        </p:nvSpPr>
        <p:spPr>
          <a:xfrm>
            <a:off x="548640" y="2788920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OPTIMIZED pipeline runs at 1.77× lower latency than a plain LLM baseline.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9"/>
          <p:cNvSpPr/>
          <p:nvPr/>
        </p:nvSpPr>
        <p:spPr>
          <a:xfrm>
            <a:off x="274320" y="3328416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9"/>
          <p:cNvSpPr/>
          <p:nvPr/>
        </p:nvSpPr>
        <p:spPr>
          <a:xfrm>
            <a:off x="548640" y="3273552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In-process benchmarking is fundamentally insufficient for RAG safety evaluation — end-to-end testing is mandatory.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9"/>
          <p:cNvSpPr/>
          <p:nvPr/>
        </p:nvSpPr>
        <p:spPr>
          <a:xfrm>
            <a:off x="5413248" y="896112"/>
            <a:ext cx="356616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9"/>
          <p:cNvSpPr/>
          <p:nvPr/>
        </p:nvSpPr>
        <p:spPr>
          <a:xfrm>
            <a:off x="5413248" y="896112"/>
            <a:ext cx="3566160" cy="34747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9"/>
          <p:cNvSpPr/>
          <p:nvPr/>
        </p:nvSpPr>
        <p:spPr>
          <a:xfrm>
            <a:off x="5486400" y="89611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9"/>
          <p:cNvSpPr/>
          <p:nvPr/>
        </p:nvSpPr>
        <p:spPr>
          <a:xfrm>
            <a:off x="5522976" y="1389888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9"/>
          <p:cNvSpPr/>
          <p:nvPr/>
        </p:nvSpPr>
        <p:spPr>
          <a:xfrm>
            <a:off x="5522976" y="138988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9"/>
          <p:cNvSpPr/>
          <p:nvPr/>
        </p:nvSpPr>
        <p:spPr>
          <a:xfrm>
            <a:off x="5870448" y="1371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Date-Range Metadata Filters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9"/>
          <p:cNvSpPr/>
          <p:nvPr/>
        </p:nvSpPr>
        <p:spPr>
          <a:xfrm>
            <a:off x="5870448" y="1645920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ChromaDB retrieval filters to close temporal grounding gap for historical queries.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9"/>
          <p:cNvSpPr/>
          <p:nvPr/>
        </p:nvSpPr>
        <p:spPr>
          <a:xfrm>
            <a:off x="5522976" y="2103120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9"/>
          <p:cNvSpPr/>
          <p:nvPr/>
        </p:nvSpPr>
        <p:spPr>
          <a:xfrm>
            <a:off x="5522976" y="21031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9"/>
          <p:cNvSpPr/>
          <p:nvPr/>
        </p:nvSpPr>
        <p:spPr>
          <a:xfrm>
            <a:off x="5870448" y="20848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FinBERT Social Fine-tuning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9"/>
          <p:cNvSpPr/>
          <p:nvPr/>
        </p:nvSpPr>
        <p:spPr>
          <a:xfrm>
            <a:off x="5870448" y="235915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Fine-tune on social media financial corpus or add VADER tiebreaker to push accuracy above 80%.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9"/>
          <p:cNvSpPr/>
          <p:nvPr/>
        </p:nvSpPr>
        <p:spPr>
          <a:xfrm>
            <a:off x="5522976" y="2816352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9"/>
          <p:cNvSpPr/>
          <p:nvPr/>
        </p:nvSpPr>
        <p:spPr>
          <a:xfrm>
            <a:off x="5522976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9"/>
          <p:cNvSpPr/>
          <p:nvPr/>
        </p:nvSpPr>
        <p:spPr>
          <a:xfrm>
            <a:off x="5870448" y="27980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Per-Source TTL Config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9"/>
          <p:cNvSpPr/>
          <p:nvPr/>
        </p:nvSpPr>
        <p:spPr>
          <a:xfrm>
            <a:off x="5870448" y="307238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Prevent over-blocking of SEC filing data by separating TTLs from real-time market data.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9"/>
          <p:cNvSpPr/>
          <p:nvPr/>
        </p:nvSpPr>
        <p:spPr>
          <a:xfrm>
            <a:off x="5522976" y="3529584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9"/>
          <p:cNvSpPr/>
          <p:nvPr/>
        </p:nvSpPr>
        <p:spPr>
          <a:xfrm>
            <a:off x="5522976" y="35295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9"/>
          <p:cNvSpPr/>
          <p:nvPr/>
        </p:nvSpPr>
        <p:spPr>
          <a:xfrm>
            <a:off x="5870448" y="351129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ConfigMap Thresholds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9"/>
          <p:cNvSpPr/>
          <p:nvPr/>
        </p:nvSpPr>
        <p:spPr>
          <a:xfrm>
            <a:off x="5870448" y="3785616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Promote similarity &amp; confidence thresholds to Kubernetes environment variables for live tuning without downtime.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2026-04-04T16:00:45Z</dcterms:created>
  <dc:creator>Gangadhar Singh Shiva, Akshobhya Rao BV, Ananya Chandraker</dc:creator>
</cp:coreProperties>
</file>
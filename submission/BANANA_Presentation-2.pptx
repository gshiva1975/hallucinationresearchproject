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kwZuw5Kr79WbyP53Dq+Y0yXch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3F0071-CCB1-42BF-92A0-1E05931E6A1B}">
  <a:tblStyle styleId="{4A3F0071-CCB1-42BF-92A0-1E05931E6A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Grounded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0DC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30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9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10.96</c:v>
                </c:pt>
                <c:pt idx="1">
                  <c:v>0.07</c:v>
                </c:pt>
                <c:pt idx="2">
                  <c:v>0.04</c:v>
                </c:pt>
                <c:pt idx="3">
                  <c:v>0.03</c:v>
                </c:pt>
                <c:pt idx="4">
                  <c:v>1.07</c:v>
                </c:pt>
                <c:pt idx="5">
                  <c:v>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FACTUAL</c:v>
                  </c:pt>
                  <c:pt idx="1">
                    <c:v>ADVISORY</c:v>
                  </c:pt>
                  <c:pt idx="2">
                    <c:v>NONEXISTENT</c:v>
                  </c:pt>
                  <c:pt idx="3">
                    <c:v>FABRICATED</c:v>
                  </c:pt>
                  <c:pt idx="4">
                    <c:v>CONFIDENTIAL</c:v>
                  </c:pt>
                  <c:pt idx="5">
                    <c:v>HAL_PROBE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4.97</c:v>
                </c:pt>
                <c:pt idx="1">
                  <c:v>0.2</c:v>
                </c:pt>
                <c:pt idx="2">
                  <c:v>0.02</c:v>
                </c:pt>
                <c:pt idx="3">
                  <c:v>0.02</c:v>
                </c:pt>
                <c:pt idx="4">
                  <c:v>0.66</c:v>
                </c:pt>
                <c:pt idx="5">
                  <c:v>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D0DC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30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39242756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d39242756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d39242756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dd39233c08_0_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g3dd39233c08_0_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7" name="Google Shape;17;g3dd39233c08_0_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dd39233c08_0_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dd39233c08_0_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g3dd39233c08_0_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g3dd39233c08_0_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g3dd39233c08_0_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4" name="Google Shape;24;g3dd39233c08_0_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3dd39233c08_0_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g3dd39233c08_0_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dd39233c08_0_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d39233c08_0_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g3dd39233c08_0_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1" name="Google Shape;31;g3dd39233c08_0_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dd39233c08_0_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g3dd39233c08_0_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" name="Google Shape;34;g3dd39233c08_0_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g3dd39233c08_0_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d39233c08_0_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g3dd39233c08_0_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" name="Google Shape;39;g3dd39233c08_0_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dd39233c08_0_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g3dd39233c08_0_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2" name="Google Shape;42;g3dd39233c08_0_2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dd39233c08_0_2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g3dd39233c08_0_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d39233c08_0_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g3dd39233c08_0_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g3dd39233c08_0_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dd39233c08_0_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g3dd39233c08_0_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g3dd39233c08_0_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9233c08_0_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g3dd39233c08_0_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g3dd39233c08_0_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dd39233c08_0_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g3dd39233c08_0_4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8" name="Google Shape;58;g3dd39233c08_0_4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g3dd39233c08_0_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g3dd39233c08_0_5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2" name="Google Shape;62;g3dd39233c08_0_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dd39233c08_0_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dd39233c08_0_5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dd39233c08_0_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d39233c08_0_5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g3dd39233c08_0_5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g3dd39233c08_0_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dd39233c08_0_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g3dd39233c08_0_5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2" name="Google Shape;72;g3dd39233c08_0_5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g3dd39233c08_0_5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g3dd39233c08_0_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39233c08_0_6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7" name="Google Shape;77;g3dd39233c08_0_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g3dd39233c08_0_6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0" name="Google Shape;80;g3dd39233c08_0_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dd39233c08_0_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g3dd39233c08_0_6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g3dd39233c08_0_6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3dd39233c08_0_6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39233c08_0_7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d39233c08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dd39233c08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dd39233c08_0_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17220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28600" y="256032"/>
            <a:ext cx="5669280" cy="47548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28600" y="256032"/>
            <a:ext cx="5669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PROJECT B.A.N.A.N.A.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28600" y="868680"/>
            <a:ext cx="5669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Reducing Hallucination 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AI Through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Retrieval-Augmented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28600" y="3456432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Brokerage Analytic Network &amp; Autonomous Node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28600" y="3950208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Gangadhar Singh Shiva  ·  Akshobhya Rao BV  ·  Ananya Chandraker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MS Applied Artificial Intelligence · University of San Diego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400800" y="2743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6400800" y="749808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83.3%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6400800" y="12527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Attack Deflection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6400800" y="1773936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0/3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6400800" y="227685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Hallucination Probes Leaked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400800" y="2798064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1.77×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400800" y="330098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Latency Speedup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400800" y="3822192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6400800" y="432511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Defence Guard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37160" y="4773168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Shiley Marcos School of Engineering · April 2026  |  Technical Report MSAAI-2026-05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Problem: Hallucination in Financial 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228600" y="914400"/>
            <a:ext cx="4206240" cy="356616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Why Hallucination Is Critical in Finance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320040" y="1444752"/>
            <a:ext cx="40233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LLMs routinely produce statements that sound credible but cannot be traced to any verified source — a phenomenon termed </a:t>
            </a:r>
            <a:r>
              <a:rPr b="1" i="0" lang="en-US" sz="11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hallucination</a:t>
            </a:r>
            <a:r>
              <a:rPr b="0" i="0" lang="en-US" sz="11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In financial contexts, even a single fabricated revenue figure or misattributed SEC filing can constitute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material misinformation</a:t>
            </a:r>
            <a:r>
              <a:rPr b="0" i="0" lang="en-US" sz="11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 — carrying serious regulatory and reputational consequences.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320040" y="3319272"/>
            <a:ext cx="3931920" cy="3108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320040" y="3319272"/>
            <a:ext cx="54864" cy="31089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38912" y="3319272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Numeric Errors: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682496" y="3319272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Fabricated prices, revenues, or financial figures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20040" y="3666744"/>
            <a:ext cx="3931920" cy="3108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320040" y="3666744"/>
            <a:ext cx="54864" cy="31089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38912" y="366674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Temporal Errors: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682496" y="366674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Stale data presented as current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320040" y="4014216"/>
            <a:ext cx="3931920" cy="3108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320040" y="4014216"/>
            <a:ext cx="54864" cy="31089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38912" y="4014216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Attribution Errors: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682496" y="40142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Claims assigned to wrong sources or companies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4709160" y="914400"/>
            <a:ext cx="4206240" cy="356616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800600" y="10058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Research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4800600" y="1481328"/>
            <a:ext cx="3931920" cy="7680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892040" y="15179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Bang et al.,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892040" y="175564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Hallucination rates high enough to disqualify raw LLM output for financial use without explicit grounding.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4800600" y="2377440"/>
            <a:ext cx="3931920" cy="7680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4892040" y="24140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Gao et al.,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4892040" y="26517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RAG reduces hallucination by 30–60% across knowledge-intensive benchmarks.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800600" y="3273552"/>
            <a:ext cx="3931920" cy="768096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4892040" y="331012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Shuster et al., 2021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4892040" y="35478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Retrieval-grounded systems cut factual hallucination by 54% vs. generation-only.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4800600" y="4206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Our response: Project B.A.N.A.N.A. — a 7-layer defence architecture with LLM-free answer assembly.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dd39242756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775" y="896750"/>
            <a:ext cx="4375948" cy="270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Architecture: Three-Layer Design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82880" y="896112"/>
            <a:ext cx="2834640" cy="361188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82880" y="896112"/>
            <a:ext cx="2834640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256032" y="896112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Layer 1: Outer Peel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256032" y="1335024"/>
            <a:ext cx="2688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MCP Data Source Servers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310896" y="1773936"/>
            <a:ext cx="164592" cy="16459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530352" y="172821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Alpha Vantage OHLCV (banana-market)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310896" y="2249424"/>
            <a:ext cx="164592" cy="16459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530352" y="2203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SEC EDGAR Filings (banana-sec)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310896" y="2724912"/>
            <a:ext cx="164592" cy="16459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530352" y="26791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Twitter/X Social Sentiment (banana-social)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256032" y="3255264"/>
            <a:ext cx="2688336" cy="1828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56032" y="3319272"/>
            <a:ext cx="2688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Live data fetched at inference time — no static training corpus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3172968" y="896112"/>
            <a:ext cx="2834640" cy="361188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3172968" y="896112"/>
            <a:ext cx="2834640" cy="3840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3246120" y="896112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Layer 2: The Pulp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3246120" y="1335024"/>
            <a:ext cx="2688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LangGraph Agentic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3300984" y="1773936"/>
            <a:ext cx="164592" cy="16459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3520440" y="172821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11-node DAG with typed AgentState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3300984" y="2249424"/>
            <a:ext cx="164592" cy="16459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3520440" y="2203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Guard nodes with fail-fast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3300984" y="2724912"/>
            <a:ext cx="164592" cy="16459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3520440" y="26791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FinBERT sentiment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3246120" y="3255264"/>
            <a:ext cx="2688336" cy="1828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3246120" y="3319272"/>
            <a:ext cx="2688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Orchestrates retrieval, validation, and answer assembly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6163056" y="896112"/>
            <a:ext cx="2834640" cy="361188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6163056" y="896112"/>
            <a:ext cx="2834640" cy="38404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6236208" y="896112"/>
            <a:ext cx="268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Layer 3: The 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6236208" y="1335024"/>
            <a:ext cx="2688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Vector Store &amp; Model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6291072" y="1773936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6510528" y="172821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ChromaDB persistent vector 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6291072" y="2249424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510528" y="2203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all-MiniLM-L6-v2 (384-dim embeddings)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6291072" y="2724912"/>
            <a:ext cx="164592" cy="164592"/>
          </a:xfrm>
          <a:prstGeom prst="ellipse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6510528" y="26791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ProsusAI/FinBERT (finance sentiment)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6236208" y="3255264"/>
            <a:ext cx="2688336" cy="1828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236208" y="3319272"/>
            <a:ext cx="2688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Within-session storage with cosine similarity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3044952" y="2359152"/>
            <a:ext cx="128016" cy="5486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6035040" y="2359152"/>
            <a:ext cx="128016" cy="5486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182880" y="4553712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Key Design Decision: Answer assembly uses direct document concatenation — LLM generation is removed entirely from the final output stage.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Seven-Layer Defence-in-Depth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28600" y="896112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228600" y="8961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58368" y="90525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intent_node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2880360" y="905256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Advisory keyword blacklist — blocks buy/sell/predict queries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228600" y="1389888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228600" y="13898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58368" y="139903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fetch_node 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2880360" y="1399032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ENTITY_REGISTRY lookup — blocks fictional company hallucination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228600" y="1883664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228600" y="18836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58368" y="189280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fetch_node (2)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2880360" y="1892808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Year whitelist [2022–2024] — blocks future document fabrication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228600" y="2377440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28600" y="2377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658368" y="23865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validate_node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2880360" y="238658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4-criterion quality check — blocks invalid/placeholder MCP responses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228600" y="2871216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228600" y="28712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658368" y="28803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ticker_guard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2880360" y="2880360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Per-document ticker match — blocks cross-ticker contamination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228600" y="3364992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228600" y="33649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658368" y="337413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evaluate_node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2880360" y="3374136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Cosine similarity ≥ 0.55 — blocks low-relevance grounding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228600" y="3858768"/>
            <a:ext cx="347472" cy="34747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228600" y="3858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658368" y="386791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reflection_node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2880360" y="3867912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FinBERT confidence ≥ 0.70 — blocks low-confidence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6583680" y="896112"/>
            <a:ext cx="2377440" cy="365760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6675120" y="96012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Fail-Fast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6675120" y="13716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Any node detecting a fatal condition sets block_reason — all downstream nodes skip execution immediately.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6675120" y="2304288"/>
            <a:ext cx="2194560" cy="18288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6675120" y="23774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Vulnerability Fixes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6675120" y="2788920"/>
            <a:ext cx="2194560" cy="512064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6748272" y="2816352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Social Sentinel Bypass → not_placeholder check added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6675120" y="3392424"/>
            <a:ext cx="2194560" cy="512064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6748272" y="3419856"/>
            <a:ext cx="2048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Cross-Ticker Contamination → ticker_guard_node inserted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6675120" y="405993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Post-fix: blocked rate ↑ 78.6% → 88.2%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11-Node LangGraph Pipeline &amp; ML Models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164592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164592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832104" y="1188720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969264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969264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1636776" y="1188720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1773936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1773936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2441448" y="1188720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578608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2578608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246120" y="1188720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3383280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3383280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050792" y="1188720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4187952" y="987552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4187952" y="987552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ticker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guard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4494276" y="1444752"/>
            <a:ext cx="54864" cy="23774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3383280" y="1664208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3383280" y="1664208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3246120" y="1865376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2578608" y="1664208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2578608" y="1664208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2441448" y="1865376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1773936" y="1664208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1773936" y="1664208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1636776" y="1865376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969264" y="1664208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969264" y="1664208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reflection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832104" y="1865376"/>
            <a:ext cx="137160" cy="5486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164592" y="1664208"/>
            <a:ext cx="667512" cy="457200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164592" y="1664208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scribe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164592" y="23042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NODE TYPES: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1371600" y="2340864"/>
            <a:ext cx="201168" cy="20116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1627632" y="2322576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Guard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3291840" y="2340864"/>
            <a:ext cx="201168" cy="2011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3547872" y="2322576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Enricher/Retriever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5212080" y="2340864"/>
            <a:ext cx="201168" cy="20116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5468112" y="2322576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Agent (ML)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7132320" y="2340864"/>
            <a:ext cx="201168" cy="20116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7388352" y="2322576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164592" y="2697480"/>
            <a:ext cx="2834640" cy="1691640"/>
          </a:xfrm>
          <a:prstGeom prst="rect">
            <a:avLst/>
          </a:prstGeom>
          <a:solidFill>
            <a:srgbClr val="16305A"/>
          </a:solidFill>
          <a:ln cap="flat" cmpd="sng" w="152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164592" y="2697480"/>
            <a:ext cx="2834640" cy="32918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237744" y="2697480"/>
            <a:ext cx="2688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256032" y="307238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6-layer BERT · 22M params · 384-dim 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256032" y="354787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Sentence embedding for indexing &amp; querying ChromaDB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3154680" y="2697480"/>
            <a:ext cx="2834640" cy="1691640"/>
          </a:xfrm>
          <a:prstGeom prst="rect">
            <a:avLst/>
          </a:prstGeom>
          <a:solidFill>
            <a:srgbClr val="16305A"/>
          </a:solidFill>
          <a:ln cap="flat" cmpd="sng" w="152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3154680" y="2697480"/>
            <a:ext cx="2834640" cy="32918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3227832" y="2697480"/>
            <a:ext cx="2688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ProsusAI/FinBERT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3246120" y="307238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BERT-base fine-tuned · Financial PhraseBank · 4,846 sentences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3246120" y="354787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3-class sentiment (pos/neg/neutral) · 73.47%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6144768" y="2697480"/>
            <a:ext cx="2834640" cy="1691640"/>
          </a:xfrm>
          <a:prstGeom prst="rect">
            <a:avLst/>
          </a:prstGeom>
          <a:solidFill>
            <a:srgbClr val="16305A"/>
          </a:solidFill>
          <a:ln cap="flat" cmpd="sng" w="15225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6144768" y="2697480"/>
            <a:ext cx="2834640" cy="329184"/>
          </a:xfrm>
          <a:prstGeom prst="rect">
            <a:avLst/>
          </a:prstGeom>
          <a:solidFill>
            <a:srgbClr val="7A9CC4"/>
          </a:solidFill>
          <a:ln cap="flat" cmpd="sng" w="12700">
            <a:solidFill>
              <a:srgbClr val="7A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6217920" y="2697480"/>
            <a:ext cx="2688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TinyLlama (Baseline)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6236208" y="307238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Baseline LLM comparison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/>
          <p:nvPr/>
        </p:nvSpPr>
        <p:spPr>
          <a:xfrm>
            <a:off x="6236208" y="354787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Replaced by direct document concatenation in OPTIMIZED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Results: April 2, 2026 — Live API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164592" y="896112"/>
            <a:ext cx="1920240" cy="1005840"/>
          </a:xfrm>
          <a:prstGeom prst="rect">
            <a:avLst/>
          </a:prstGeom>
          <a:solidFill>
            <a:srgbClr val="1A3A6E"/>
          </a:solidFill>
          <a:ln cap="flat" cmpd="sng" w="254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219456" y="950976"/>
            <a:ext cx="1810512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83.3%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219456" y="1479499"/>
            <a:ext cx="1810512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Attack Deflection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231136" y="896112"/>
            <a:ext cx="1920240" cy="1005840"/>
          </a:xfrm>
          <a:prstGeom prst="rect">
            <a:avLst/>
          </a:prstGeom>
          <a:solidFill>
            <a:srgbClr val="1A3A6E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86000" y="950976"/>
            <a:ext cx="1810512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 / 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2286000" y="1479499"/>
            <a:ext cx="1810512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Hallucination Probes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4297680" y="896112"/>
            <a:ext cx="1920240" cy="1005840"/>
          </a:xfrm>
          <a:prstGeom prst="rect">
            <a:avLst/>
          </a:prstGeom>
          <a:solidFill>
            <a:srgbClr val="1A3A6E"/>
          </a:solidFill>
          <a:ln cap="flat" cmpd="sng" w="254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4352544" y="950976"/>
            <a:ext cx="1810512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18 / 18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352544" y="1479499"/>
            <a:ext cx="1810512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Grounded Responses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364224" y="896112"/>
            <a:ext cx="1920240" cy="1005840"/>
          </a:xfrm>
          <a:prstGeom prst="rect">
            <a:avLst/>
          </a:prstGeom>
          <a:solidFill>
            <a:srgbClr val="1A3A6E"/>
          </a:solidFill>
          <a:ln cap="flat" cmpd="sng" w="25400">
            <a:solidFill>
              <a:srgbClr val="FFC8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419088" y="950976"/>
            <a:ext cx="1810512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1.77×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6419088" y="1479499"/>
            <a:ext cx="1810512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Latency Speedup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164592" y="208483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Block Reason Breakdown — 15 Blocked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6"/>
          <p:cNvGraphicFramePr/>
          <p:nvPr/>
        </p:nvGraphicFramePr>
        <p:xfrm>
          <a:off x="164592" y="2450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{4A3F0071-CCB1-42BF-92A0-1E05931E6A1B}</a:tableStyleId>
              </a:tblPr>
              <a:tblGrid>
                <a:gridCol w="2834650"/>
                <a:gridCol w="731525"/>
                <a:gridCol w="1737350"/>
              </a:tblGrid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 Reason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BLOCKED_ADVISORY_QUERY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Advisory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BLOCKED_STALE_DOCUMENTS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 + Factual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BLOCKED_UNKNOWN_ENTITY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Nonexistent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BLOCKED_UNSUPPORTED_YEAR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Fabricated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BLOCKED_INVALID_TOOL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Confidential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  <a:tr h="2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BLOCKED_LOW_SIMILARITY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CE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C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 Probe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22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05A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6"/>
          <p:cNvSpPr/>
          <p:nvPr/>
        </p:nvSpPr>
        <p:spPr>
          <a:xfrm>
            <a:off x="5669280" y="208483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Outcome by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7" name="Google Shape;347;p6"/>
          <p:cNvGraphicFramePr/>
          <p:nvPr/>
        </p:nvGraphicFramePr>
        <p:xfrm>
          <a:off x="5577840" y="2377440"/>
          <a:ext cx="3383280" cy="2011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48" name="Google Shape;348;p6"/>
          <p:cNvSpPr/>
          <p:nvPr/>
        </p:nvSpPr>
        <p:spPr>
          <a:xfrm>
            <a:off x="164592" y="4425696"/>
            <a:ext cx="8778240" cy="256032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228600" y="4425696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Pre-fix: 2 probes leaked · blocked 78.6%  →  Post-fix: 0 probes leaked · blocked 88.2%  (first clean full-probe sweep in project history)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Performance: Latency &amp; Throughput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164592" y="89611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Average Response Latency by Category (seconds)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2" name="Google Shape;362;p7"/>
          <p:cNvGraphicFramePr/>
          <p:nvPr/>
        </p:nvGraphicFramePr>
        <p:xfrm>
          <a:off x="164592" y="1225296"/>
          <a:ext cx="5394960" cy="3063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63" name="Google Shape;363;p7"/>
          <p:cNvSpPr/>
          <p:nvPr/>
        </p:nvSpPr>
        <p:spPr>
          <a:xfrm>
            <a:off x="5806440" y="89611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4A"/>
                </a:solidFill>
                <a:latin typeface="Calibri"/>
                <a:ea typeface="Calibri"/>
                <a:cs typeface="Calibri"/>
                <a:sym typeface="Calibri"/>
              </a:rPr>
              <a:t>Per-Category Speedup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5806440" y="1261872"/>
            <a:ext cx="3108960" cy="347472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5870448" y="126187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7726680" y="126187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5806440" y="1645920"/>
            <a:ext cx="3108960" cy="347472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5870448" y="16459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7726680" y="164592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2.2×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5806440" y="2029968"/>
            <a:ext cx="3108960" cy="347472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870448" y="202996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NONEXISTENT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7726680" y="20299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2.0×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5806440" y="2414016"/>
            <a:ext cx="3108960" cy="347472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5870448" y="241401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FABRICATED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7726680" y="241401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1.5×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806440" y="2798064"/>
            <a:ext cx="3108960" cy="347472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5870448" y="279806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7726680" y="279806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1.6×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5806440" y="3182112"/>
            <a:ext cx="3108960" cy="347472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5870448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HAL_PROBE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7726680" y="3182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0.91×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5806440" y="3566160"/>
            <a:ext cx="3108960" cy="347472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5870448" y="3566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ADVISORY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7726680" y="35661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0.35×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5806440" y="3950208"/>
            <a:ext cx="3108960" cy="347472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5870448" y="395020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OVERALL AVG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7726680" y="395020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1.77×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164592" y="4370832"/>
            <a:ext cx="8778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FACTUAL category: TinyLlama generation avg 10.96 s vs RAG cached retrieval 4.97 s  |  Guard-blocked categories respond in &lt; 0.2 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Discussion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164592" y="896112"/>
            <a:ext cx="4251960" cy="1755648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164592" y="896112"/>
            <a:ext cx="73152" cy="175564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329184" y="98755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850392" y="98755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Evaluation Mode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329184" y="1408176"/>
            <a:ext cx="3950208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In-process benchmarking leaked all 3 probes; live API blocked all 3. Guard chain only activates through the FastAPI endpoint. RAG safety evaluation must be end-to-end.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4663440" y="896112"/>
            <a:ext cx="4251960" cy="1755648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663440" y="896112"/>
            <a:ext cx="73152" cy="17556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828032" y="98755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5349240" y="98755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grounded=True is Insufficient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4828032" y="1408176"/>
            <a:ext cx="3950208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Hallucination rate reported 0.0 even with 2 active vulnerabilities. A grounded flag confirms an answer was produced — not that retrieved content is correct or temporally aligned.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64592" y="2816352"/>
            <a:ext cx="4251960" cy="1755648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64592" y="2816352"/>
            <a:ext cx="73152" cy="17556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329184" y="290779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850392" y="290779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LLM-Free Assembly: Trade-offs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329184" y="3328416"/>
            <a:ext cx="3950208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Architectural grounding guarantee achieved, but responses are raw document strings, not fluent prose. Acceptable for OHLCV / filing data; narrative synthesis requires a constrained generative stage.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4663440" y="2816352"/>
            <a:ext cx="4251960" cy="1755648"/>
          </a:xfrm>
          <a:prstGeom prst="rect">
            <a:avLst/>
          </a:prstGeom>
          <a:solidFill>
            <a:srgbClr val="16305A"/>
          </a:solidFill>
          <a:ln cap="flat" cmpd="sng" w="1905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4663440" y="2816352"/>
            <a:ext cx="73152" cy="1755648"/>
          </a:xfrm>
          <a:prstGeom prst="rect">
            <a:avLst/>
          </a:prstGeom>
          <a:solidFill>
            <a:srgbClr val="2EC4B6"/>
          </a:solidFill>
          <a:ln cap="flat" cmpd="sng" w="12700">
            <a:solidFill>
              <a:srgbClr val="2E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4828032" y="290779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5349240" y="290779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FinBERT Accuracy: 73.47%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4828032" y="3328416"/>
            <a:ext cx="3950208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Below 80% production threshold. Failures on implicit positives (M&amp;A) and social media idioms. Fix: fine-tune on social corpus or add VADER tiebreaker for short inputs (&lt; 15 tokens).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274320" y="740664"/>
            <a:ext cx="1097280" cy="4114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63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164592" y="475488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A9CC4"/>
                </a:solidFill>
                <a:latin typeface="Calibri"/>
                <a:ea typeface="Calibri"/>
                <a:cs typeface="Calibri"/>
                <a:sym typeface="Calibri"/>
              </a:rPr>
              <a:t>AAI590 Capstone · University of San Diego ·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164592" y="896112"/>
            <a:ext cx="5029200" cy="365760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164592" y="896112"/>
            <a:ext cx="5029200" cy="34747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237744" y="896112"/>
            <a:ext cx="48828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What We Proved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274320" y="1389888"/>
            <a:ext cx="182880" cy="18288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548640" y="1335024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Layered guard-based RAG with LLM-free assembly achieves zero measured hallucination on live financial queries.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274320" y="1874520"/>
            <a:ext cx="182880" cy="18288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548640" y="1819656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7-layer defence blocked 83.3% of adversarial inputs across 6 threat categories.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274320" y="2359152"/>
            <a:ext cx="182880" cy="18288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548640" y="2304288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All 3 hallucination probes contained in live API testing — first clean sweep in project history.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274320" y="2843784"/>
            <a:ext cx="182880" cy="18288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548640" y="2788920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OPTIMIZED pipeline runs at 1.77× lower latency than a plain LLM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274320" y="3328416"/>
            <a:ext cx="182880" cy="18288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548640" y="3273552"/>
            <a:ext cx="4517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In-process benchmarking is fundamentally insufficient for RAG safety evaluation — end-to-end testing is mandatory.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5413248" y="896112"/>
            <a:ext cx="3566160" cy="3657600"/>
          </a:xfrm>
          <a:prstGeom prst="rect">
            <a:avLst/>
          </a:prstGeom>
          <a:solidFill>
            <a:srgbClr val="16305A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5413248" y="896112"/>
            <a:ext cx="356616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5486400" y="896112"/>
            <a:ext cx="3419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5522976" y="1389888"/>
            <a:ext cx="274320" cy="27432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5522976" y="13898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5870448" y="1371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Date-Range Metadata Filters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5870448" y="16459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ChromaDB retrieval filters to close temporal grounding gap for historical queries.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5522976" y="2103120"/>
            <a:ext cx="274320" cy="27432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5522976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5870448" y="20848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FinBERT Social Fine-tuning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5870448" y="23591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Fine-tune on social media financial corpus or add VADER tiebreaker to push accuracy above 80%.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5522976" y="2816352"/>
            <a:ext cx="274320" cy="27432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5522976" y="28163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5870448" y="279806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Per-Source TTL Config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5870448" y="307238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Prevent over-blocking of SEC filing data by separating TTLs from real-time market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5522976" y="3529584"/>
            <a:ext cx="274320" cy="27432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5522976" y="35295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5870448" y="35112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ConfigMap Thresholds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5870448" y="3785616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C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DCEF"/>
                </a:solidFill>
                <a:latin typeface="Calibri"/>
                <a:ea typeface="Calibri"/>
                <a:cs typeface="Calibri"/>
                <a:sym typeface="Calibri"/>
              </a:rPr>
              <a:t>Promote similarity &amp; confidence thresholds to Kubernetes environment variables for live tuning without downtime.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2026-04-04T16:00:45Z</dcterms:created>
  <dc:creator>Gangadhar Singh Shiva, Akshobhya Rao BV, Ananya Chandraker</dc:creator>
</cp:coreProperties>
</file>
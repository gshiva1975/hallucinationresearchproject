
<file path=[Content_Types].xml><?xml version="1.0" encoding="utf-8"?>
<Types xmlns="http://schemas.openxmlformats.org/package/2006/content-types">
  <Default ContentType="image/jpeg" Extension="jpg"/>
  <Default ContentType="application/vnd.openxmlformats-officedocument.spreadsheetml.sheet" Extension="xlsx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drawingml.chart+xml" PartName="/ppt/charts/chart2.xml"/>
  <Override ContentType="application/vnd.openxmlformats-officedocument.drawingml.chart+xml" PartName="/ppt/charts/chart1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5143500" cx="9144000"/>
  <p:notesSz cx="5143500" cy="9144000"/>
  <p:embeddedFontLst>
    <p:embeddedFont>
      <p:font typeface="Raleway"/>
      <p:regular r:id="rId16"/>
      <p:bold r:id="rId17"/>
      <p:italic r:id="rId18"/>
      <p:boldItalic r:id="rId19"/>
    </p:embeddedFont>
    <p:embeddedFont>
      <p:font typeface="Lato"/>
      <p:regular r:id="rId20"/>
      <p:bold r:id="rId21"/>
      <p:italic r:id="rId22"/>
      <p:boldItalic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4" roundtripDataSignature="AMtx7mhkwZuw5Kr79WbyP53Dq+Y0yXchF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4F42CB0-8C47-47A8-97B8-7C13D60FE1B8}">
  <a:tblStyle styleId="{D4F42CB0-8C47-47A8-97B8-7C13D60FE1B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Lato-regular.fntdata"/><Relationship Id="rId11" Type="http://schemas.openxmlformats.org/officeDocument/2006/relationships/slide" Target="slides/slide6.xml"/><Relationship Id="rId22" Type="http://schemas.openxmlformats.org/officeDocument/2006/relationships/font" Target="fonts/Lato-italic.fntdata"/><Relationship Id="rId10" Type="http://schemas.openxmlformats.org/officeDocument/2006/relationships/slide" Target="slides/slide5.xml"/><Relationship Id="rId21" Type="http://schemas.openxmlformats.org/officeDocument/2006/relationships/font" Target="fonts/Lato-bold.fntdata"/><Relationship Id="rId13" Type="http://schemas.openxmlformats.org/officeDocument/2006/relationships/slide" Target="slides/slide8.xml"/><Relationship Id="rId24" Type="http://customschemas.google.com/relationships/presentationmetadata" Target="metadata"/><Relationship Id="rId12" Type="http://schemas.openxmlformats.org/officeDocument/2006/relationships/slide" Target="slides/slide7.xml"/><Relationship Id="rId23" Type="http://schemas.openxmlformats.org/officeDocument/2006/relationships/font" Target="fonts/Lato-boldItalic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Raleway-bold.fntdata"/><Relationship Id="rId16" Type="http://schemas.openxmlformats.org/officeDocument/2006/relationships/font" Target="fonts/Raleway-regular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Raleway-boldItalic.fntdata"/><Relationship Id="rId6" Type="http://schemas.openxmlformats.org/officeDocument/2006/relationships/slide" Target="slides/slide1.xml"/><Relationship Id="rId18" Type="http://schemas.openxmlformats.org/officeDocument/2006/relationships/font" Target="fonts/Raleway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charts/_rels/chart1.xml.rels><?xml version="1.0" encoding="UTF-8" standalone="yes"?>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"1.0" encoding="UTF-8" standalone="yes"?>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Grounded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FACTUAL</c:v>
                  </c:pt>
                  <c:pt idx="1">
                    <c:v>ADVISORY</c:v>
                  </c:pt>
                  <c:pt idx="2">
                    <c:v>NONEXISTENT</c:v>
                  </c:pt>
                  <c:pt idx="3">
                    <c:v>FABRICATED</c:v>
                  </c:pt>
                  <c:pt idx="4">
                    <c:v>CONFIDENTIAL</c:v>
                  </c:pt>
                  <c:pt idx="5">
                    <c:v>HAL_PROBE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Blocked</c:v>
                </c:pt>
              </c:strCache>
            </c:strRef>
          </c:tx>
          <c:spPr>
            <a:solidFill>
              <a:srgbClr val="E6394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FACTUAL</c:v>
                  </c:pt>
                  <c:pt idx="1">
                    <c:v>ADVISORY</c:v>
                  </c:pt>
                  <c:pt idx="2">
                    <c:v>NONEXISTENT</c:v>
                  </c:pt>
                  <c:pt idx="3">
                    <c:v>FABRICATED</c:v>
                  </c:pt>
                  <c:pt idx="4">
                    <c:v>CONFIDENTIAL</c:v>
                  </c:pt>
                  <c:pt idx="5">
                    <c:v>HAL_PROBE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</c:v>
                </c:pt>
                <c:pt idx="1">
                  <c:v>4</c:v>
                </c:pt>
                <c:pt idx="2">
                  <c:v>3</c:v>
                </c:pt>
                <c:pt idx="3">
                  <c:v>2</c:v>
                </c:pt>
                <c:pt idx="4">
                  <c:v>2</c:v>
                </c:pt>
                <c:pt idx="5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9CC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122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9CC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D0DCEF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16305A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7A9C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FACTUAL</c:v>
                  </c:pt>
                  <c:pt idx="1">
                    <c:v>ADVISORY</c:v>
                  </c:pt>
                  <c:pt idx="2">
                    <c:v>NONEXISTENT</c:v>
                  </c:pt>
                  <c:pt idx="3">
                    <c:v>FABRICATED</c:v>
                  </c:pt>
                  <c:pt idx="4">
                    <c:v>CONFIDENTIAL</c:v>
                  </c:pt>
                  <c:pt idx="5">
                    <c:v>HAL_PROBE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10.96</c:v>
                </c:pt>
                <c:pt idx="1">
                  <c:v>0.07</c:v>
                </c:pt>
                <c:pt idx="2">
                  <c:v>0.04</c:v>
                </c:pt>
                <c:pt idx="3">
                  <c:v>0.03</c:v>
                </c:pt>
                <c:pt idx="4">
                  <c:v>1.07</c:v>
                </c:pt>
                <c:pt idx="5">
                  <c:v>2.6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Optimized</c:v>
                </c:pt>
              </c:strCache>
            </c:strRef>
          </c:tx>
          <c:spPr>
            <a:solidFill>
              <a:srgbClr val="F0A5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FACTUAL</c:v>
                  </c:pt>
                  <c:pt idx="1">
                    <c:v>ADVISORY</c:v>
                  </c:pt>
                  <c:pt idx="2">
                    <c:v>NONEXISTENT</c:v>
                  </c:pt>
                  <c:pt idx="3">
                    <c:v>FABRICATED</c:v>
                  </c:pt>
                  <c:pt idx="4">
                    <c:v>CONFIDENTIAL</c:v>
                  </c:pt>
                  <c:pt idx="5">
                    <c:v>HAL_PROBE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4.97</c:v>
                </c:pt>
                <c:pt idx="1">
                  <c:v>0.2</c:v>
                </c:pt>
                <c:pt idx="2">
                  <c:v>0.02</c:v>
                </c:pt>
                <c:pt idx="3">
                  <c:v>0.02</c:v>
                </c:pt>
                <c:pt idx="4">
                  <c:v>0.66</c:v>
                </c:pt>
                <c:pt idx="5">
                  <c:v>2.86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9CC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122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9CC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D0DCEF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16305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0" name="Google Shape;90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3" name="Google Shape;113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4" name="Google Shape;114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dd39242756_3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dd39242756_3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g3dd39242756_3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7" name="Google Shape;157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8" name="Google Shape;158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7" name="Google Shape;20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8" name="Google Shape;20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6" name="Google Shape;25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7" name="Google Shape;257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3" name="Google Shape;3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4" name="Google Shape;324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2" name="Google Shape;352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53" name="Google Shape;353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1" name="Google Shape;39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92" name="Google Shape;392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2" name="Google Shape;42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23" name="Google Shape;423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lt2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g3dd39233c08_0_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" name="Google Shape;16;g3dd39233c08_0_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7" name="Google Shape;17;g3dd39233c08_0_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g3dd39233c08_0_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9" name="Google Shape;19;g3dd39233c08_0_4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0" name="Google Shape;20;g3dd39233c08_0_4"/>
          <p:cNvSpPr txBox="1"/>
          <p:nvPr>
            <p:ph idx="1" type="subTitle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21" name="Google Shape;21;g3dd39233c08_0_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oogle Shape;23;g3dd39233c08_0_1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4" name="Google Shape;24;g3dd39233c08_0_1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" name="Google Shape;25;g3dd39233c08_0_1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" name="Google Shape;26;g3dd39233c08_0_12"/>
          <p:cNvSpPr txBox="1"/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" name="Google Shape;27;g3dd39233c08_0_1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3dd39233c08_0_18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0" name="Google Shape;30;g3dd39233c08_0_18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1" name="Google Shape;31;g3dd39233c08_0_1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" name="Google Shape;32;g3dd39233c08_0_1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3" name="Google Shape;33;g3dd39233c08_0_1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34" name="Google Shape;34;g3dd39233c08_0_1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5" name="Google Shape;35;g3dd39233c08_0_1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dd39233c08_0_2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8" name="Google Shape;38;g3dd39233c08_0_2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9" name="Google Shape;39;g3dd39233c08_0_2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" name="Google Shape;40;g3dd39233c08_0_2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1" name="Google Shape;41;g3dd39233c08_0_26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42" name="Google Shape;42;g3dd39233c08_0_26"/>
          <p:cNvSpPr txBox="1"/>
          <p:nvPr>
            <p:ph idx="1" type="body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3" name="Google Shape;43;g3dd39233c08_0_26"/>
          <p:cNvSpPr txBox="1"/>
          <p:nvPr>
            <p:ph idx="2" type="body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4" name="Google Shape;44;g3dd39233c08_0_2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3dd39233c08_0_3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7" name="Google Shape;47;g3dd39233c08_0_3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8" name="Google Shape;48;g3dd39233c08_0_3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Google Shape;49;g3dd39233c08_0_3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0" name="Google Shape;50;g3dd39233c08_0_35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51" name="Google Shape;51;g3dd39233c08_0_3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dd39233c08_0_4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" name="Google Shape;54;g3dd39233c08_0_4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5" name="Google Shape;55;g3dd39233c08_0_4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" name="Google Shape;56;g3dd39233c08_0_4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7" name="Google Shape;57;g3dd39233c08_0_42"/>
          <p:cNvSpPr txBox="1"/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58" name="Google Shape;58;g3dd39233c08_0_42"/>
          <p:cNvSpPr txBox="1"/>
          <p:nvPr>
            <p:ph idx="1" type="body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9" name="Google Shape;59;g3dd39233c08_0_4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oogle Shape;61;g3dd39233c08_0_50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62" name="Google Shape;62;g3dd39233c08_0_50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" name="Google Shape;63;g3dd39233c08_0_50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4" name="Google Shape;64;g3dd39233c08_0_50"/>
          <p:cNvSpPr txBox="1"/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5" name="Google Shape;65;g3dd39233c08_0_5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dd39233c08_0_56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8" name="Google Shape;68;g3dd39233c08_0_5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9" name="Google Shape;69;g3dd39233c08_0_5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" name="Google Shape;70;g3dd39233c08_0_5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1" name="Google Shape;71;g3dd39233c08_0_56"/>
          <p:cNvSpPr txBox="1"/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72" name="Google Shape;72;g3dd39233c08_0_56"/>
          <p:cNvSpPr txBox="1"/>
          <p:nvPr>
            <p:ph idx="1" type="subTitle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73" name="Google Shape;73;g3dd39233c08_0_56"/>
          <p:cNvSpPr txBox="1"/>
          <p:nvPr>
            <p:ph idx="2" type="body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74" name="Google Shape;74;g3dd39233c08_0_5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d39233c08_0_65"/>
          <p:cNvSpPr txBox="1"/>
          <p:nvPr>
            <p:ph idx="1" type="body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77" name="Google Shape;77;g3dd39233c08_0_6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oogle Shape;79;g3dd39233c08_0_6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80" name="Google Shape;80;g3dd39233c08_0_6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" name="Google Shape;81;g3dd39233c08_0_6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2" name="Google Shape;82;g3dd39233c08_0_68"/>
          <p:cNvSpPr txBox="1"/>
          <p:nvPr>
            <p:ph hasCustomPrompt="1" type="title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3" name="Google Shape;83;g3dd39233c08_0_68"/>
          <p:cNvSpPr txBox="1"/>
          <p:nvPr>
            <p:ph idx="1" type="body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4" name="Google Shape;84;g3dd39233c08_0_6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d39233c08_0_7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treamline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3dd39233c08_0_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i="0" sz="2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i="0" sz="2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i="0" sz="2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i="0" sz="2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i="0" sz="2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i="0" sz="2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i="0" sz="2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i="0" sz="2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i="0" sz="2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11" name="Google Shape;11;g3dd39233c08_0_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b="0" i="0" sz="13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b="0" i="0" sz="11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b="0" i="0" sz="11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b="0" i="0" sz="11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b="0" i="0" sz="11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b="0" i="0" sz="11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b="0" i="0" sz="11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b="0" i="0" sz="11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b="0" i="0" sz="11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12" name="Google Shape;12;g3dd39233c08_0_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Relationship Id="rId4" Type="http://schemas.openxmlformats.org/officeDocument/2006/relationships/chart" Target="../charts/chart1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2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"/>
          <p:cNvSpPr/>
          <p:nvPr/>
        </p:nvSpPr>
        <p:spPr>
          <a:xfrm>
            <a:off x="6172200" y="0"/>
            <a:ext cx="64008" cy="5143500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"/>
          <p:cNvSpPr/>
          <p:nvPr/>
        </p:nvSpPr>
        <p:spPr>
          <a:xfrm>
            <a:off x="228600" y="256032"/>
            <a:ext cx="5669280" cy="475488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63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"/>
          <p:cNvSpPr/>
          <p:nvPr/>
        </p:nvSpPr>
        <p:spPr>
          <a:xfrm>
            <a:off x="228600" y="256032"/>
            <a:ext cx="56692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101600" lIns="101600" spcFirstLastPara="1" rIns="101600" wrap="square" tIns="1016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PROJECT B.A.N.A.N.A.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"/>
          <p:cNvSpPr/>
          <p:nvPr/>
        </p:nvSpPr>
        <p:spPr>
          <a:xfrm>
            <a:off x="238072" y="868680"/>
            <a:ext cx="5669400" cy="256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Reducing Hallucination in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Financial AI Through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Retrieval-Augmented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Agentic Design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"/>
          <p:cNvSpPr/>
          <p:nvPr/>
        </p:nvSpPr>
        <p:spPr>
          <a:xfrm>
            <a:off x="228600" y="3456432"/>
            <a:ext cx="56692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Brokerage Analytic Network &amp; Autonomous Node Assistant</a:t>
            </a:r>
            <a:endParaRPr b="0" i="0" sz="11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"/>
          <p:cNvSpPr/>
          <p:nvPr/>
        </p:nvSpPr>
        <p:spPr>
          <a:xfrm>
            <a:off x="228600" y="3950208"/>
            <a:ext cx="5669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1000"/>
              <a:buFont typeface="Calibri"/>
              <a:buNone/>
            </a:pPr>
            <a:r>
              <a:rPr i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Gangadhar Singh Shiva  ·  Akshobhya Rao BV  ·  Ananya Chandraker</a:t>
            </a:r>
            <a:endParaRPr i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1000"/>
              <a:buFont typeface="Calibri"/>
              <a:buNone/>
            </a:pPr>
            <a:r>
              <a:rPr i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MS Applied Artificial Intelligence · University of San Diego</a:t>
            </a:r>
            <a:endParaRPr i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"/>
          <p:cNvSpPr/>
          <p:nvPr/>
        </p:nvSpPr>
        <p:spPr>
          <a:xfrm>
            <a:off x="6400800" y="27432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KEY METRICS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"/>
          <p:cNvSpPr/>
          <p:nvPr/>
        </p:nvSpPr>
        <p:spPr>
          <a:xfrm>
            <a:off x="6400800" y="749808"/>
            <a:ext cx="24688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83.3%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"/>
          <p:cNvSpPr/>
          <p:nvPr/>
        </p:nvSpPr>
        <p:spPr>
          <a:xfrm>
            <a:off x="6400800" y="1252728"/>
            <a:ext cx="24688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Attack Deflection Rate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"/>
          <p:cNvSpPr/>
          <p:nvPr/>
        </p:nvSpPr>
        <p:spPr>
          <a:xfrm>
            <a:off x="6400800" y="1773936"/>
            <a:ext cx="24688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0/3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"/>
          <p:cNvSpPr/>
          <p:nvPr/>
        </p:nvSpPr>
        <p:spPr>
          <a:xfrm>
            <a:off x="6400800" y="2276856"/>
            <a:ext cx="24688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Hallucination Probes Leaked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"/>
          <p:cNvSpPr/>
          <p:nvPr/>
        </p:nvSpPr>
        <p:spPr>
          <a:xfrm>
            <a:off x="6400800" y="2798064"/>
            <a:ext cx="24688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1.77×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"/>
          <p:cNvSpPr/>
          <p:nvPr/>
        </p:nvSpPr>
        <p:spPr>
          <a:xfrm>
            <a:off x="6400800" y="3300984"/>
            <a:ext cx="24688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Latency Speedup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"/>
          <p:cNvSpPr/>
          <p:nvPr/>
        </p:nvSpPr>
        <p:spPr>
          <a:xfrm>
            <a:off x="6400800" y="3822192"/>
            <a:ext cx="24688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"/>
          <p:cNvSpPr/>
          <p:nvPr/>
        </p:nvSpPr>
        <p:spPr>
          <a:xfrm>
            <a:off x="6400800" y="4325112"/>
            <a:ext cx="24688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Defence Guard Layers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63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"/>
          <p:cNvSpPr/>
          <p:nvPr/>
        </p:nvSpPr>
        <p:spPr>
          <a:xfrm>
            <a:off x="137160" y="4773168"/>
            <a:ext cx="8778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800"/>
              <a:buFont typeface="Calibri"/>
              <a:buNone/>
            </a:pPr>
            <a:r>
              <a:rPr b="0" i="1" lang="en-US" sz="80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AAI590 Capstone · Shiley Marcos School of Engineering · April 2026  |  Technical Report MSAAI-2026-05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2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2"/>
          <p:cNvSpPr/>
          <p:nvPr/>
        </p:nvSpPr>
        <p:spPr>
          <a:xfrm>
            <a:off x="274320" y="164592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Problem: Hallucination in Financial AI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2"/>
          <p:cNvSpPr/>
          <p:nvPr/>
        </p:nvSpPr>
        <p:spPr>
          <a:xfrm>
            <a:off x="274320" y="740664"/>
            <a:ext cx="1097280" cy="4114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2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63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2"/>
          <p:cNvSpPr/>
          <p:nvPr/>
        </p:nvSpPr>
        <p:spPr>
          <a:xfrm>
            <a:off x="164592" y="4754880"/>
            <a:ext cx="8778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850"/>
              <a:buFont typeface="Calibri"/>
              <a:buNone/>
            </a:pPr>
            <a:r>
              <a:rPr b="0" i="1" lang="en-US" sz="85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AAI590 Capstone · University of San Diego · April 2026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2"/>
          <p:cNvSpPr/>
          <p:nvPr/>
        </p:nvSpPr>
        <p:spPr>
          <a:xfrm>
            <a:off x="228600" y="914400"/>
            <a:ext cx="4206240" cy="3566160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A3A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2"/>
          <p:cNvSpPr/>
          <p:nvPr/>
        </p:nvSpPr>
        <p:spPr>
          <a:xfrm>
            <a:off x="320040" y="100584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Why Hallucination Is Critical in Finance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2"/>
          <p:cNvSpPr/>
          <p:nvPr/>
        </p:nvSpPr>
        <p:spPr>
          <a:xfrm>
            <a:off x="320040" y="1444752"/>
            <a:ext cx="402336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LLMs routinely produce statements that sound credible but cannot be traced to any verified source — a phenomenon termed </a:t>
            </a:r>
            <a:r>
              <a:rPr b="1" i="0" lang="en-US" sz="115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hallucination</a:t>
            </a:r>
            <a:r>
              <a:rPr b="0" i="0" lang="en-US" sz="11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Calibri"/>
              <a:buNone/>
            </a:pPr>
            <a:r>
              <a:t/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In financial contexts, even a single fabricated revenue figure or misattributed SEC filing can constitute 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3946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E63946"/>
                </a:solidFill>
                <a:latin typeface="Calibri"/>
                <a:ea typeface="Calibri"/>
                <a:cs typeface="Calibri"/>
                <a:sym typeface="Calibri"/>
              </a:rPr>
              <a:t>material misinformation</a:t>
            </a:r>
            <a:r>
              <a:rPr b="0" i="0" lang="en-US" sz="11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 — carrying serious regulatory and reputational consequences.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2"/>
          <p:cNvSpPr/>
          <p:nvPr/>
        </p:nvSpPr>
        <p:spPr>
          <a:xfrm>
            <a:off x="320040" y="3319272"/>
            <a:ext cx="3931920" cy="310896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2"/>
          <p:cNvSpPr/>
          <p:nvPr/>
        </p:nvSpPr>
        <p:spPr>
          <a:xfrm>
            <a:off x="320040" y="3319272"/>
            <a:ext cx="54864" cy="310896"/>
          </a:xfrm>
          <a:prstGeom prst="rect">
            <a:avLst/>
          </a:prstGeom>
          <a:solidFill>
            <a:srgbClr val="E63946"/>
          </a:solidFill>
          <a:ln cap="flat" cmpd="sng" w="12700">
            <a:solidFill>
              <a:srgbClr val="E639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2"/>
          <p:cNvSpPr/>
          <p:nvPr/>
        </p:nvSpPr>
        <p:spPr>
          <a:xfrm>
            <a:off x="438912" y="3319272"/>
            <a:ext cx="12344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394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E63946"/>
                </a:solidFill>
                <a:latin typeface="Calibri"/>
                <a:ea typeface="Calibri"/>
                <a:cs typeface="Calibri"/>
                <a:sym typeface="Calibri"/>
              </a:rPr>
              <a:t>Numeric Errors: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2"/>
          <p:cNvSpPr/>
          <p:nvPr/>
        </p:nvSpPr>
        <p:spPr>
          <a:xfrm>
            <a:off x="1682496" y="3319272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Fabricated prices, revenues, or financial figures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2"/>
          <p:cNvSpPr/>
          <p:nvPr/>
        </p:nvSpPr>
        <p:spPr>
          <a:xfrm>
            <a:off x="320040" y="3666744"/>
            <a:ext cx="3931920" cy="310896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2"/>
          <p:cNvSpPr/>
          <p:nvPr/>
        </p:nvSpPr>
        <p:spPr>
          <a:xfrm>
            <a:off x="320040" y="3666744"/>
            <a:ext cx="54864" cy="310896"/>
          </a:xfrm>
          <a:prstGeom prst="rect">
            <a:avLst/>
          </a:prstGeom>
          <a:solidFill>
            <a:srgbClr val="E63946"/>
          </a:solidFill>
          <a:ln cap="flat" cmpd="sng" w="12700">
            <a:solidFill>
              <a:srgbClr val="E639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2"/>
          <p:cNvSpPr/>
          <p:nvPr/>
        </p:nvSpPr>
        <p:spPr>
          <a:xfrm>
            <a:off x="438912" y="3666744"/>
            <a:ext cx="12344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394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E63946"/>
                </a:solidFill>
                <a:latin typeface="Calibri"/>
                <a:ea typeface="Calibri"/>
                <a:cs typeface="Calibri"/>
                <a:sym typeface="Calibri"/>
              </a:rPr>
              <a:t>Temporal Errors: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"/>
          <p:cNvSpPr/>
          <p:nvPr/>
        </p:nvSpPr>
        <p:spPr>
          <a:xfrm>
            <a:off x="1682496" y="3666744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Stale data presented as current information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"/>
          <p:cNvSpPr/>
          <p:nvPr/>
        </p:nvSpPr>
        <p:spPr>
          <a:xfrm>
            <a:off x="320040" y="4014216"/>
            <a:ext cx="3931920" cy="310896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2"/>
          <p:cNvSpPr/>
          <p:nvPr/>
        </p:nvSpPr>
        <p:spPr>
          <a:xfrm>
            <a:off x="320040" y="4014216"/>
            <a:ext cx="54864" cy="310896"/>
          </a:xfrm>
          <a:prstGeom prst="rect">
            <a:avLst/>
          </a:prstGeom>
          <a:solidFill>
            <a:srgbClr val="E63946"/>
          </a:solidFill>
          <a:ln cap="flat" cmpd="sng" w="12700">
            <a:solidFill>
              <a:srgbClr val="E639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2"/>
          <p:cNvSpPr/>
          <p:nvPr/>
        </p:nvSpPr>
        <p:spPr>
          <a:xfrm>
            <a:off x="438912" y="4014216"/>
            <a:ext cx="12344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394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E63946"/>
                </a:solidFill>
                <a:latin typeface="Calibri"/>
                <a:ea typeface="Calibri"/>
                <a:cs typeface="Calibri"/>
                <a:sym typeface="Calibri"/>
              </a:rPr>
              <a:t>Attribution Errors: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"/>
          <p:cNvSpPr/>
          <p:nvPr/>
        </p:nvSpPr>
        <p:spPr>
          <a:xfrm>
            <a:off x="1682496" y="4014216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Claims assigned to wrong sources or companies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2"/>
          <p:cNvSpPr/>
          <p:nvPr/>
        </p:nvSpPr>
        <p:spPr>
          <a:xfrm>
            <a:off x="4709160" y="914400"/>
            <a:ext cx="4206240" cy="3566160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A3A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2"/>
          <p:cNvSpPr/>
          <p:nvPr/>
        </p:nvSpPr>
        <p:spPr>
          <a:xfrm>
            <a:off x="4800600" y="100584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Research Evidence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2"/>
          <p:cNvSpPr/>
          <p:nvPr/>
        </p:nvSpPr>
        <p:spPr>
          <a:xfrm>
            <a:off x="4800600" y="1481328"/>
            <a:ext cx="3931920" cy="768096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A3A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2"/>
          <p:cNvSpPr/>
          <p:nvPr/>
        </p:nvSpPr>
        <p:spPr>
          <a:xfrm>
            <a:off x="4892040" y="1517904"/>
            <a:ext cx="3749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Bang et al., 2023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2"/>
          <p:cNvSpPr/>
          <p:nvPr/>
        </p:nvSpPr>
        <p:spPr>
          <a:xfrm>
            <a:off x="4892040" y="1755648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Hallucination rates high enough to disqualify raw LLM output for financial use without explicit grounding.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"/>
          <p:cNvSpPr/>
          <p:nvPr/>
        </p:nvSpPr>
        <p:spPr>
          <a:xfrm>
            <a:off x="4800600" y="2377440"/>
            <a:ext cx="3931920" cy="768096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A3A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2"/>
          <p:cNvSpPr/>
          <p:nvPr/>
        </p:nvSpPr>
        <p:spPr>
          <a:xfrm>
            <a:off x="4892040" y="2414016"/>
            <a:ext cx="3749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Gao et al., 2023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2"/>
          <p:cNvSpPr/>
          <p:nvPr/>
        </p:nvSpPr>
        <p:spPr>
          <a:xfrm>
            <a:off x="4892040" y="265176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RAG reduces hallucination by 30–60% across knowledge-intensive benchmarks.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2"/>
          <p:cNvSpPr/>
          <p:nvPr/>
        </p:nvSpPr>
        <p:spPr>
          <a:xfrm>
            <a:off x="4800600" y="3273552"/>
            <a:ext cx="3931920" cy="768096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A3A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2"/>
          <p:cNvSpPr/>
          <p:nvPr/>
        </p:nvSpPr>
        <p:spPr>
          <a:xfrm>
            <a:off x="4892040" y="3310128"/>
            <a:ext cx="3749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Shuster et al., 2021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2"/>
          <p:cNvSpPr/>
          <p:nvPr/>
        </p:nvSpPr>
        <p:spPr>
          <a:xfrm>
            <a:off x="4892040" y="3547872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Retrieval-grounded systems cut factual hallucination by 54% vs. generation-only.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2"/>
          <p:cNvSpPr/>
          <p:nvPr/>
        </p:nvSpPr>
        <p:spPr>
          <a:xfrm>
            <a:off x="4800600" y="4206240"/>
            <a:ext cx="3931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1100"/>
              <a:buFont typeface="Calibri"/>
              <a:buNone/>
            </a:pPr>
            <a:r>
              <a:rPr b="1" i="1" lang="en-US" sz="11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Our response: Project B.A.N.A.N.A. — a 7-layer defence architecture with LLM-free answer assembly.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g3dd39242756_3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81775" y="896750"/>
            <a:ext cx="4375948" cy="27091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3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3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3"/>
          <p:cNvSpPr/>
          <p:nvPr/>
        </p:nvSpPr>
        <p:spPr>
          <a:xfrm>
            <a:off x="274320" y="164592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System Architecture: Three-Layer Design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3"/>
          <p:cNvSpPr/>
          <p:nvPr/>
        </p:nvSpPr>
        <p:spPr>
          <a:xfrm>
            <a:off x="274320" y="740664"/>
            <a:ext cx="1097280" cy="4114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3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63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3"/>
          <p:cNvSpPr/>
          <p:nvPr/>
        </p:nvSpPr>
        <p:spPr>
          <a:xfrm>
            <a:off x="164592" y="4754880"/>
            <a:ext cx="8778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850"/>
              <a:buFont typeface="Calibri"/>
              <a:buNone/>
            </a:pPr>
            <a:r>
              <a:rPr b="0" i="1" lang="en-US" sz="85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AAI590 Capstone · University of San Diego · April 2026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3"/>
          <p:cNvSpPr/>
          <p:nvPr/>
        </p:nvSpPr>
        <p:spPr>
          <a:xfrm>
            <a:off x="182880" y="896112"/>
            <a:ext cx="2834640" cy="361188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3"/>
          <p:cNvSpPr/>
          <p:nvPr/>
        </p:nvSpPr>
        <p:spPr>
          <a:xfrm>
            <a:off x="182880" y="896112"/>
            <a:ext cx="2834640" cy="384048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3"/>
          <p:cNvSpPr/>
          <p:nvPr/>
        </p:nvSpPr>
        <p:spPr>
          <a:xfrm>
            <a:off x="256032" y="896112"/>
            <a:ext cx="2688336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Layer 1: Outer Peel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3"/>
          <p:cNvSpPr/>
          <p:nvPr/>
        </p:nvSpPr>
        <p:spPr>
          <a:xfrm>
            <a:off x="256032" y="1335024"/>
            <a:ext cx="2688336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MCP Data Source Servers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3"/>
          <p:cNvSpPr/>
          <p:nvPr/>
        </p:nvSpPr>
        <p:spPr>
          <a:xfrm>
            <a:off x="310896" y="1773936"/>
            <a:ext cx="164592" cy="164592"/>
          </a:xfrm>
          <a:prstGeom prst="ellipse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3"/>
          <p:cNvSpPr/>
          <p:nvPr/>
        </p:nvSpPr>
        <p:spPr>
          <a:xfrm>
            <a:off x="530352" y="1728216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Alpha Vantage OHLCV (banana-market)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3"/>
          <p:cNvSpPr/>
          <p:nvPr/>
        </p:nvSpPr>
        <p:spPr>
          <a:xfrm>
            <a:off x="310896" y="2249424"/>
            <a:ext cx="164592" cy="164592"/>
          </a:xfrm>
          <a:prstGeom prst="ellipse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3"/>
          <p:cNvSpPr/>
          <p:nvPr/>
        </p:nvSpPr>
        <p:spPr>
          <a:xfrm>
            <a:off x="530352" y="2203704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SEC EDGAR Filings (banana-sec)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3"/>
          <p:cNvSpPr/>
          <p:nvPr/>
        </p:nvSpPr>
        <p:spPr>
          <a:xfrm>
            <a:off x="310896" y="2724912"/>
            <a:ext cx="164592" cy="164592"/>
          </a:xfrm>
          <a:prstGeom prst="ellipse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3"/>
          <p:cNvSpPr/>
          <p:nvPr/>
        </p:nvSpPr>
        <p:spPr>
          <a:xfrm>
            <a:off x="530352" y="2679192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Twitter/X Social Sentiment (banana-social)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3"/>
          <p:cNvSpPr/>
          <p:nvPr/>
        </p:nvSpPr>
        <p:spPr>
          <a:xfrm>
            <a:off x="256032" y="3255264"/>
            <a:ext cx="2688336" cy="18288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3"/>
          <p:cNvSpPr/>
          <p:nvPr/>
        </p:nvSpPr>
        <p:spPr>
          <a:xfrm>
            <a:off x="256032" y="3319272"/>
            <a:ext cx="2688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Live data fetched at inference time — no static training corpus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3"/>
          <p:cNvSpPr/>
          <p:nvPr/>
        </p:nvSpPr>
        <p:spPr>
          <a:xfrm>
            <a:off x="3172968" y="896112"/>
            <a:ext cx="2834640" cy="361188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3"/>
          <p:cNvSpPr/>
          <p:nvPr/>
        </p:nvSpPr>
        <p:spPr>
          <a:xfrm>
            <a:off x="3172968" y="896112"/>
            <a:ext cx="2834640" cy="38404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3"/>
          <p:cNvSpPr/>
          <p:nvPr/>
        </p:nvSpPr>
        <p:spPr>
          <a:xfrm>
            <a:off x="3246120" y="896112"/>
            <a:ext cx="2688336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Layer 2: The Pulp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3"/>
          <p:cNvSpPr/>
          <p:nvPr/>
        </p:nvSpPr>
        <p:spPr>
          <a:xfrm>
            <a:off x="3246120" y="1335024"/>
            <a:ext cx="2688336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LangGraph Agentic Pipeline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3"/>
          <p:cNvSpPr/>
          <p:nvPr/>
        </p:nvSpPr>
        <p:spPr>
          <a:xfrm>
            <a:off x="3300984" y="1773936"/>
            <a:ext cx="164592" cy="164592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3"/>
          <p:cNvSpPr/>
          <p:nvPr/>
        </p:nvSpPr>
        <p:spPr>
          <a:xfrm>
            <a:off x="3520440" y="1728216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11-node DAG with typed AgentState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3"/>
          <p:cNvSpPr/>
          <p:nvPr/>
        </p:nvSpPr>
        <p:spPr>
          <a:xfrm>
            <a:off x="3300984" y="2249424"/>
            <a:ext cx="164592" cy="164592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3"/>
          <p:cNvSpPr/>
          <p:nvPr/>
        </p:nvSpPr>
        <p:spPr>
          <a:xfrm>
            <a:off x="3520440" y="2203704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Guard nodes with fail-fast pattern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3"/>
          <p:cNvSpPr/>
          <p:nvPr/>
        </p:nvSpPr>
        <p:spPr>
          <a:xfrm>
            <a:off x="3300984" y="2724912"/>
            <a:ext cx="164592" cy="164592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3"/>
          <p:cNvSpPr/>
          <p:nvPr/>
        </p:nvSpPr>
        <p:spPr>
          <a:xfrm>
            <a:off x="3520440" y="2679192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FinBERT sentiment analysis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3"/>
          <p:cNvSpPr/>
          <p:nvPr/>
        </p:nvSpPr>
        <p:spPr>
          <a:xfrm>
            <a:off x="3246120" y="3255264"/>
            <a:ext cx="2688336" cy="1828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"/>
          <p:cNvSpPr/>
          <p:nvPr/>
        </p:nvSpPr>
        <p:spPr>
          <a:xfrm>
            <a:off x="3246120" y="3319272"/>
            <a:ext cx="2688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Orchestrates retrieval, validation, and answer assembly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3"/>
          <p:cNvSpPr/>
          <p:nvPr/>
        </p:nvSpPr>
        <p:spPr>
          <a:xfrm>
            <a:off x="6163056" y="896112"/>
            <a:ext cx="2834640" cy="361188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"/>
          <p:cNvSpPr/>
          <p:nvPr/>
        </p:nvSpPr>
        <p:spPr>
          <a:xfrm>
            <a:off x="6163056" y="896112"/>
            <a:ext cx="2834640" cy="384048"/>
          </a:xfrm>
          <a:prstGeom prst="rect">
            <a:avLst/>
          </a:prstGeom>
          <a:solidFill>
            <a:srgbClr val="2EC4B6"/>
          </a:solidFill>
          <a:ln cap="flat" cmpd="sng" w="1270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"/>
          <p:cNvSpPr/>
          <p:nvPr/>
        </p:nvSpPr>
        <p:spPr>
          <a:xfrm>
            <a:off x="6236208" y="896112"/>
            <a:ext cx="26883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Layer 3: The Core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3"/>
          <p:cNvSpPr/>
          <p:nvPr/>
        </p:nvSpPr>
        <p:spPr>
          <a:xfrm>
            <a:off x="6236208" y="1335024"/>
            <a:ext cx="2688336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Vector Store &amp; Model Backbone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3"/>
          <p:cNvSpPr/>
          <p:nvPr/>
        </p:nvSpPr>
        <p:spPr>
          <a:xfrm>
            <a:off x="6291072" y="1773936"/>
            <a:ext cx="164592" cy="164592"/>
          </a:xfrm>
          <a:prstGeom prst="ellipse">
            <a:avLst/>
          </a:prstGeom>
          <a:solidFill>
            <a:srgbClr val="2EC4B6"/>
          </a:solidFill>
          <a:ln cap="flat" cmpd="sng" w="1270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3"/>
          <p:cNvSpPr/>
          <p:nvPr/>
        </p:nvSpPr>
        <p:spPr>
          <a:xfrm>
            <a:off x="6510528" y="1728216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ChromaDB persistent vector store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3"/>
          <p:cNvSpPr/>
          <p:nvPr/>
        </p:nvSpPr>
        <p:spPr>
          <a:xfrm>
            <a:off x="6291072" y="2249424"/>
            <a:ext cx="164592" cy="164592"/>
          </a:xfrm>
          <a:prstGeom prst="ellipse">
            <a:avLst/>
          </a:prstGeom>
          <a:solidFill>
            <a:srgbClr val="2EC4B6"/>
          </a:solidFill>
          <a:ln cap="flat" cmpd="sng" w="1270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3"/>
          <p:cNvSpPr/>
          <p:nvPr/>
        </p:nvSpPr>
        <p:spPr>
          <a:xfrm>
            <a:off x="6510528" y="2203704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all-MiniLM-L6-v2 (384-dim embeddings)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3"/>
          <p:cNvSpPr/>
          <p:nvPr/>
        </p:nvSpPr>
        <p:spPr>
          <a:xfrm>
            <a:off x="6291072" y="2724912"/>
            <a:ext cx="164592" cy="164592"/>
          </a:xfrm>
          <a:prstGeom prst="ellipse">
            <a:avLst/>
          </a:prstGeom>
          <a:solidFill>
            <a:srgbClr val="2EC4B6"/>
          </a:solidFill>
          <a:ln cap="flat" cmpd="sng" w="1270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3"/>
          <p:cNvSpPr/>
          <p:nvPr/>
        </p:nvSpPr>
        <p:spPr>
          <a:xfrm>
            <a:off x="6510528" y="2679192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ProsusAI/FinBERT (finance sentiment)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3"/>
          <p:cNvSpPr/>
          <p:nvPr/>
        </p:nvSpPr>
        <p:spPr>
          <a:xfrm>
            <a:off x="6236208" y="3255264"/>
            <a:ext cx="2688336" cy="18288"/>
          </a:xfrm>
          <a:prstGeom prst="rect">
            <a:avLst/>
          </a:prstGeom>
          <a:solidFill>
            <a:srgbClr val="2EC4B6"/>
          </a:solidFill>
          <a:ln cap="flat" cmpd="sng" w="1270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3"/>
          <p:cNvSpPr/>
          <p:nvPr/>
        </p:nvSpPr>
        <p:spPr>
          <a:xfrm>
            <a:off x="6236208" y="3319272"/>
            <a:ext cx="2688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Within-session storage with cosine similarity retrieval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3"/>
          <p:cNvSpPr/>
          <p:nvPr/>
        </p:nvSpPr>
        <p:spPr>
          <a:xfrm>
            <a:off x="3044952" y="2359152"/>
            <a:ext cx="128016" cy="54864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3"/>
          <p:cNvSpPr/>
          <p:nvPr/>
        </p:nvSpPr>
        <p:spPr>
          <a:xfrm>
            <a:off x="6035040" y="2359152"/>
            <a:ext cx="128016" cy="54864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3"/>
          <p:cNvSpPr/>
          <p:nvPr/>
        </p:nvSpPr>
        <p:spPr>
          <a:xfrm>
            <a:off x="182880" y="4553712"/>
            <a:ext cx="8778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950"/>
              <a:buFont typeface="Calibri"/>
              <a:buNone/>
            </a:pPr>
            <a:r>
              <a:rPr b="1" i="1" lang="en-US" sz="95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Key Design Decision: Answer assembly uses direct document concatenation — LLM generation is removed entirely from the final output stage.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4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4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4"/>
          <p:cNvSpPr/>
          <p:nvPr/>
        </p:nvSpPr>
        <p:spPr>
          <a:xfrm>
            <a:off x="274320" y="164592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Seven-Layer Defence-in-Depth Architecture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4"/>
          <p:cNvSpPr/>
          <p:nvPr/>
        </p:nvSpPr>
        <p:spPr>
          <a:xfrm>
            <a:off x="274320" y="740664"/>
            <a:ext cx="1097280" cy="4114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4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63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4"/>
          <p:cNvSpPr/>
          <p:nvPr/>
        </p:nvSpPr>
        <p:spPr>
          <a:xfrm>
            <a:off x="164592" y="4754880"/>
            <a:ext cx="8778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850"/>
              <a:buFont typeface="Calibri"/>
              <a:buNone/>
            </a:pPr>
            <a:r>
              <a:rPr b="0" i="1" lang="en-US" sz="85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AAI590 Capstone · University of San Diego · April 2026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4"/>
          <p:cNvSpPr/>
          <p:nvPr/>
        </p:nvSpPr>
        <p:spPr>
          <a:xfrm>
            <a:off x="228600" y="896112"/>
            <a:ext cx="347472" cy="347472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4"/>
          <p:cNvSpPr/>
          <p:nvPr/>
        </p:nvSpPr>
        <p:spPr>
          <a:xfrm>
            <a:off x="228600" y="89611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4"/>
          <p:cNvSpPr/>
          <p:nvPr/>
        </p:nvSpPr>
        <p:spPr>
          <a:xfrm>
            <a:off x="658368" y="905256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intent_node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4"/>
          <p:cNvSpPr/>
          <p:nvPr/>
        </p:nvSpPr>
        <p:spPr>
          <a:xfrm>
            <a:off x="2880360" y="905256"/>
            <a:ext cx="5943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Advisory keyword blacklist — blocks buy/sell/predict queries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4"/>
          <p:cNvSpPr/>
          <p:nvPr/>
        </p:nvSpPr>
        <p:spPr>
          <a:xfrm>
            <a:off x="228600" y="1389888"/>
            <a:ext cx="347472" cy="347472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4"/>
          <p:cNvSpPr/>
          <p:nvPr/>
        </p:nvSpPr>
        <p:spPr>
          <a:xfrm>
            <a:off x="228600" y="138988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4"/>
          <p:cNvSpPr/>
          <p:nvPr/>
        </p:nvSpPr>
        <p:spPr>
          <a:xfrm>
            <a:off x="658368" y="1399032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fetch_node (1)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4"/>
          <p:cNvSpPr/>
          <p:nvPr/>
        </p:nvSpPr>
        <p:spPr>
          <a:xfrm>
            <a:off x="2880360" y="1399032"/>
            <a:ext cx="5943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ENTITY_REGISTRY lookup — blocks fictional company hallucination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4"/>
          <p:cNvSpPr/>
          <p:nvPr/>
        </p:nvSpPr>
        <p:spPr>
          <a:xfrm>
            <a:off x="228600" y="1883664"/>
            <a:ext cx="347472" cy="347472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"/>
          <p:cNvSpPr/>
          <p:nvPr/>
        </p:nvSpPr>
        <p:spPr>
          <a:xfrm>
            <a:off x="228600" y="1883664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4"/>
          <p:cNvSpPr/>
          <p:nvPr/>
        </p:nvSpPr>
        <p:spPr>
          <a:xfrm>
            <a:off x="658368" y="1892808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fetch_node (2)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4"/>
          <p:cNvSpPr/>
          <p:nvPr/>
        </p:nvSpPr>
        <p:spPr>
          <a:xfrm>
            <a:off x="2880360" y="1892808"/>
            <a:ext cx="5943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Year whitelist [2022–2024] — blocks future document fabrication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4"/>
          <p:cNvSpPr/>
          <p:nvPr/>
        </p:nvSpPr>
        <p:spPr>
          <a:xfrm>
            <a:off x="228600" y="2377440"/>
            <a:ext cx="347472" cy="347472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4"/>
          <p:cNvSpPr/>
          <p:nvPr/>
        </p:nvSpPr>
        <p:spPr>
          <a:xfrm>
            <a:off x="228600" y="237744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4"/>
          <p:cNvSpPr/>
          <p:nvPr/>
        </p:nvSpPr>
        <p:spPr>
          <a:xfrm>
            <a:off x="658368" y="2386584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validate_node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4"/>
          <p:cNvSpPr/>
          <p:nvPr/>
        </p:nvSpPr>
        <p:spPr>
          <a:xfrm>
            <a:off x="2880360" y="2386584"/>
            <a:ext cx="5943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4-criterion quality check — blocks invalid/placeholder MCP responses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4"/>
          <p:cNvSpPr/>
          <p:nvPr/>
        </p:nvSpPr>
        <p:spPr>
          <a:xfrm>
            <a:off x="228600" y="2871216"/>
            <a:ext cx="347472" cy="347472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4"/>
          <p:cNvSpPr/>
          <p:nvPr/>
        </p:nvSpPr>
        <p:spPr>
          <a:xfrm>
            <a:off x="228600" y="2871216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4"/>
          <p:cNvSpPr/>
          <p:nvPr/>
        </p:nvSpPr>
        <p:spPr>
          <a:xfrm>
            <a:off x="658368" y="2880360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ticker_guard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4"/>
          <p:cNvSpPr/>
          <p:nvPr/>
        </p:nvSpPr>
        <p:spPr>
          <a:xfrm>
            <a:off x="2880360" y="2880360"/>
            <a:ext cx="5943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Per-document ticker match — blocks cross-ticker contamination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4"/>
          <p:cNvSpPr/>
          <p:nvPr/>
        </p:nvSpPr>
        <p:spPr>
          <a:xfrm>
            <a:off x="228600" y="3364992"/>
            <a:ext cx="347472" cy="347472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4"/>
          <p:cNvSpPr/>
          <p:nvPr/>
        </p:nvSpPr>
        <p:spPr>
          <a:xfrm>
            <a:off x="228600" y="336499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4"/>
          <p:cNvSpPr/>
          <p:nvPr/>
        </p:nvSpPr>
        <p:spPr>
          <a:xfrm>
            <a:off x="658368" y="3374136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evaluate_node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4"/>
          <p:cNvSpPr/>
          <p:nvPr/>
        </p:nvSpPr>
        <p:spPr>
          <a:xfrm>
            <a:off x="2880360" y="3374136"/>
            <a:ext cx="5943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Cosine similarity ≥ 0.55 — blocks low-relevance grounding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4"/>
          <p:cNvSpPr/>
          <p:nvPr/>
        </p:nvSpPr>
        <p:spPr>
          <a:xfrm>
            <a:off x="228600" y="3858768"/>
            <a:ext cx="347472" cy="347472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4"/>
          <p:cNvSpPr/>
          <p:nvPr/>
        </p:nvSpPr>
        <p:spPr>
          <a:xfrm>
            <a:off x="228600" y="385876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4"/>
          <p:cNvSpPr/>
          <p:nvPr/>
        </p:nvSpPr>
        <p:spPr>
          <a:xfrm>
            <a:off x="658368" y="3867912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reflection_node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4"/>
          <p:cNvSpPr/>
          <p:nvPr/>
        </p:nvSpPr>
        <p:spPr>
          <a:xfrm>
            <a:off x="2880360" y="3867912"/>
            <a:ext cx="5943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FinBERT confidence ≥ 0.70 — blocks low-confidence reports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4"/>
          <p:cNvSpPr/>
          <p:nvPr/>
        </p:nvSpPr>
        <p:spPr>
          <a:xfrm>
            <a:off x="6583680" y="896112"/>
            <a:ext cx="2377440" cy="3657600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A3A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4"/>
          <p:cNvSpPr/>
          <p:nvPr/>
        </p:nvSpPr>
        <p:spPr>
          <a:xfrm>
            <a:off x="6675120" y="960120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Fail-Fast Pattern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4"/>
          <p:cNvSpPr/>
          <p:nvPr/>
        </p:nvSpPr>
        <p:spPr>
          <a:xfrm>
            <a:off x="6675120" y="1371600"/>
            <a:ext cx="21945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Any node detecting a fatal condition sets block_reason — all downstream nodes skip execution immediately.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4"/>
          <p:cNvSpPr/>
          <p:nvPr/>
        </p:nvSpPr>
        <p:spPr>
          <a:xfrm>
            <a:off x="6675120" y="2304288"/>
            <a:ext cx="2194560" cy="18288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4"/>
          <p:cNvSpPr/>
          <p:nvPr/>
        </p:nvSpPr>
        <p:spPr>
          <a:xfrm>
            <a:off x="6675120" y="2377440"/>
            <a:ext cx="2194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394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63946"/>
                </a:solidFill>
                <a:latin typeface="Calibri"/>
                <a:ea typeface="Calibri"/>
                <a:cs typeface="Calibri"/>
                <a:sym typeface="Calibri"/>
              </a:rPr>
              <a:t>Vulnerability Fixes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4"/>
          <p:cNvSpPr/>
          <p:nvPr/>
        </p:nvSpPr>
        <p:spPr>
          <a:xfrm>
            <a:off x="6675120" y="2788920"/>
            <a:ext cx="2194560" cy="512064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E639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4"/>
          <p:cNvSpPr/>
          <p:nvPr/>
        </p:nvSpPr>
        <p:spPr>
          <a:xfrm>
            <a:off x="6748272" y="2816352"/>
            <a:ext cx="204825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Social Sentinel Bypass → not_placeholder check added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4"/>
          <p:cNvSpPr/>
          <p:nvPr/>
        </p:nvSpPr>
        <p:spPr>
          <a:xfrm>
            <a:off x="6675120" y="3392424"/>
            <a:ext cx="2194560" cy="512064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E639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4"/>
          <p:cNvSpPr/>
          <p:nvPr/>
        </p:nvSpPr>
        <p:spPr>
          <a:xfrm>
            <a:off x="6748272" y="3419856"/>
            <a:ext cx="204825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Cross-Ticker Contamination → ticker_guard_node inserted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4"/>
          <p:cNvSpPr/>
          <p:nvPr/>
        </p:nvSpPr>
        <p:spPr>
          <a:xfrm>
            <a:off x="6675120" y="4059936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Post-fix: blocked rate ↑ 78.6% → 88.2%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5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5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5"/>
          <p:cNvSpPr/>
          <p:nvPr/>
        </p:nvSpPr>
        <p:spPr>
          <a:xfrm>
            <a:off x="274320" y="164592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11-Node LangGraph Pipeline &amp; ML Models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5"/>
          <p:cNvSpPr/>
          <p:nvPr/>
        </p:nvSpPr>
        <p:spPr>
          <a:xfrm>
            <a:off x="274320" y="740664"/>
            <a:ext cx="1097280" cy="4114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5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63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"/>
          <p:cNvSpPr/>
          <p:nvPr/>
        </p:nvSpPr>
        <p:spPr>
          <a:xfrm>
            <a:off x="164592" y="4754880"/>
            <a:ext cx="8778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850"/>
              <a:buFont typeface="Calibri"/>
              <a:buNone/>
            </a:pPr>
            <a:r>
              <a:rPr b="0" i="1" lang="en-US" sz="85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AAI590 Capstone · University of San Diego · April 2026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5"/>
          <p:cNvSpPr/>
          <p:nvPr/>
        </p:nvSpPr>
        <p:spPr>
          <a:xfrm>
            <a:off x="164592" y="987552"/>
            <a:ext cx="667512" cy="45720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E639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5"/>
          <p:cNvSpPr/>
          <p:nvPr/>
        </p:nvSpPr>
        <p:spPr>
          <a:xfrm>
            <a:off x="164592" y="987552"/>
            <a:ext cx="6675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3946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E63946"/>
                </a:solidFill>
                <a:latin typeface="Calibri"/>
                <a:ea typeface="Calibri"/>
                <a:cs typeface="Calibri"/>
                <a:sym typeface="Calibri"/>
              </a:rPr>
              <a:t>intent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5"/>
          <p:cNvSpPr/>
          <p:nvPr/>
        </p:nvSpPr>
        <p:spPr>
          <a:xfrm>
            <a:off x="832104" y="1188720"/>
            <a:ext cx="137160" cy="54864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5"/>
          <p:cNvSpPr/>
          <p:nvPr/>
        </p:nvSpPr>
        <p:spPr>
          <a:xfrm>
            <a:off x="969264" y="987552"/>
            <a:ext cx="667512" cy="45720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5"/>
          <p:cNvSpPr/>
          <p:nvPr/>
        </p:nvSpPr>
        <p:spPr>
          <a:xfrm>
            <a:off x="969264" y="987552"/>
            <a:ext cx="6675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fetch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5"/>
          <p:cNvSpPr/>
          <p:nvPr/>
        </p:nvSpPr>
        <p:spPr>
          <a:xfrm>
            <a:off x="1636776" y="1188720"/>
            <a:ext cx="137160" cy="54864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5"/>
          <p:cNvSpPr/>
          <p:nvPr/>
        </p:nvSpPr>
        <p:spPr>
          <a:xfrm>
            <a:off x="1773936" y="987552"/>
            <a:ext cx="667512" cy="45720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5"/>
          <p:cNvSpPr/>
          <p:nvPr/>
        </p:nvSpPr>
        <p:spPr>
          <a:xfrm>
            <a:off x="1773936" y="987552"/>
            <a:ext cx="6675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validate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5"/>
          <p:cNvSpPr/>
          <p:nvPr/>
        </p:nvSpPr>
        <p:spPr>
          <a:xfrm>
            <a:off x="2441448" y="1188720"/>
            <a:ext cx="137160" cy="54864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5"/>
          <p:cNvSpPr/>
          <p:nvPr/>
        </p:nvSpPr>
        <p:spPr>
          <a:xfrm>
            <a:off x="2578608" y="987552"/>
            <a:ext cx="667512" cy="45720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5"/>
          <p:cNvSpPr/>
          <p:nvPr/>
        </p:nvSpPr>
        <p:spPr>
          <a:xfrm>
            <a:off x="2578608" y="987552"/>
            <a:ext cx="6675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store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5"/>
          <p:cNvSpPr/>
          <p:nvPr/>
        </p:nvSpPr>
        <p:spPr>
          <a:xfrm>
            <a:off x="3246120" y="1188720"/>
            <a:ext cx="137160" cy="54864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5"/>
          <p:cNvSpPr/>
          <p:nvPr/>
        </p:nvSpPr>
        <p:spPr>
          <a:xfrm>
            <a:off x="3383280" y="987552"/>
            <a:ext cx="667512" cy="45720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"/>
          <p:cNvSpPr/>
          <p:nvPr/>
        </p:nvSpPr>
        <p:spPr>
          <a:xfrm>
            <a:off x="3383280" y="987552"/>
            <a:ext cx="6675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retrieve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5"/>
          <p:cNvSpPr/>
          <p:nvPr/>
        </p:nvSpPr>
        <p:spPr>
          <a:xfrm>
            <a:off x="4050792" y="1188720"/>
            <a:ext cx="137160" cy="54864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5"/>
          <p:cNvSpPr/>
          <p:nvPr/>
        </p:nvSpPr>
        <p:spPr>
          <a:xfrm>
            <a:off x="4187952" y="987552"/>
            <a:ext cx="667512" cy="45720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E639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5"/>
          <p:cNvSpPr/>
          <p:nvPr/>
        </p:nvSpPr>
        <p:spPr>
          <a:xfrm>
            <a:off x="4187952" y="987552"/>
            <a:ext cx="6675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3946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E63946"/>
                </a:solidFill>
                <a:latin typeface="Calibri"/>
                <a:ea typeface="Calibri"/>
                <a:cs typeface="Calibri"/>
                <a:sym typeface="Calibri"/>
              </a:rPr>
              <a:t>ticker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3946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E63946"/>
                </a:solidFill>
                <a:latin typeface="Calibri"/>
                <a:ea typeface="Calibri"/>
                <a:cs typeface="Calibri"/>
                <a:sym typeface="Calibri"/>
              </a:rPr>
              <a:t>guard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5"/>
          <p:cNvSpPr/>
          <p:nvPr/>
        </p:nvSpPr>
        <p:spPr>
          <a:xfrm>
            <a:off x="4494276" y="1444752"/>
            <a:ext cx="54864" cy="237744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5"/>
          <p:cNvSpPr/>
          <p:nvPr/>
        </p:nvSpPr>
        <p:spPr>
          <a:xfrm>
            <a:off x="3383280" y="1664208"/>
            <a:ext cx="667512" cy="45720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5"/>
          <p:cNvSpPr/>
          <p:nvPr/>
        </p:nvSpPr>
        <p:spPr>
          <a:xfrm>
            <a:off x="3383280" y="1664208"/>
            <a:ext cx="6675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evaluate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5"/>
          <p:cNvSpPr/>
          <p:nvPr/>
        </p:nvSpPr>
        <p:spPr>
          <a:xfrm>
            <a:off x="3246120" y="1865376"/>
            <a:ext cx="137160" cy="54864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5"/>
          <p:cNvSpPr/>
          <p:nvPr/>
        </p:nvSpPr>
        <p:spPr>
          <a:xfrm>
            <a:off x="2578608" y="1664208"/>
            <a:ext cx="667512" cy="45720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5"/>
          <p:cNvSpPr/>
          <p:nvPr/>
        </p:nvSpPr>
        <p:spPr>
          <a:xfrm>
            <a:off x="2578608" y="1664208"/>
            <a:ext cx="6675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answer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5"/>
          <p:cNvSpPr/>
          <p:nvPr/>
        </p:nvSpPr>
        <p:spPr>
          <a:xfrm>
            <a:off x="2441448" y="1865376"/>
            <a:ext cx="137160" cy="54864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5"/>
          <p:cNvSpPr/>
          <p:nvPr/>
        </p:nvSpPr>
        <p:spPr>
          <a:xfrm>
            <a:off x="1773936" y="1664208"/>
            <a:ext cx="667512" cy="45720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5"/>
          <p:cNvSpPr/>
          <p:nvPr/>
        </p:nvSpPr>
        <p:spPr>
          <a:xfrm>
            <a:off x="1773936" y="1664208"/>
            <a:ext cx="6675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analyst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5"/>
          <p:cNvSpPr/>
          <p:nvPr/>
        </p:nvSpPr>
        <p:spPr>
          <a:xfrm>
            <a:off x="1636776" y="1865376"/>
            <a:ext cx="137160" cy="54864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5"/>
          <p:cNvSpPr/>
          <p:nvPr/>
        </p:nvSpPr>
        <p:spPr>
          <a:xfrm>
            <a:off x="969264" y="1664208"/>
            <a:ext cx="667512" cy="45720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5"/>
          <p:cNvSpPr/>
          <p:nvPr/>
        </p:nvSpPr>
        <p:spPr>
          <a:xfrm>
            <a:off x="969264" y="1664208"/>
            <a:ext cx="6675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reflection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5"/>
          <p:cNvSpPr/>
          <p:nvPr/>
        </p:nvSpPr>
        <p:spPr>
          <a:xfrm>
            <a:off x="832104" y="1865376"/>
            <a:ext cx="137160" cy="54864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5"/>
          <p:cNvSpPr/>
          <p:nvPr/>
        </p:nvSpPr>
        <p:spPr>
          <a:xfrm>
            <a:off x="164592" y="1664208"/>
            <a:ext cx="667512" cy="45720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5"/>
          <p:cNvSpPr/>
          <p:nvPr/>
        </p:nvSpPr>
        <p:spPr>
          <a:xfrm>
            <a:off x="164592" y="1664208"/>
            <a:ext cx="6675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scribe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5"/>
          <p:cNvSpPr/>
          <p:nvPr/>
        </p:nvSpPr>
        <p:spPr>
          <a:xfrm>
            <a:off x="164592" y="230428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NODE TYPES: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5"/>
          <p:cNvSpPr/>
          <p:nvPr/>
        </p:nvSpPr>
        <p:spPr>
          <a:xfrm>
            <a:off x="1371600" y="2340864"/>
            <a:ext cx="201168" cy="201168"/>
          </a:xfrm>
          <a:prstGeom prst="rect">
            <a:avLst/>
          </a:prstGeom>
          <a:solidFill>
            <a:srgbClr val="E63946"/>
          </a:solidFill>
          <a:ln cap="flat" cmpd="sng" w="12700">
            <a:solidFill>
              <a:srgbClr val="E639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5"/>
          <p:cNvSpPr/>
          <p:nvPr/>
        </p:nvSpPr>
        <p:spPr>
          <a:xfrm>
            <a:off x="1627632" y="2322576"/>
            <a:ext cx="1554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Guard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5"/>
          <p:cNvSpPr/>
          <p:nvPr/>
        </p:nvSpPr>
        <p:spPr>
          <a:xfrm>
            <a:off x="3291840" y="2340864"/>
            <a:ext cx="201168" cy="201168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5"/>
          <p:cNvSpPr/>
          <p:nvPr/>
        </p:nvSpPr>
        <p:spPr>
          <a:xfrm>
            <a:off x="3547872" y="2322576"/>
            <a:ext cx="1554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Enricher/Retriever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5"/>
          <p:cNvSpPr/>
          <p:nvPr/>
        </p:nvSpPr>
        <p:spPr>
          <a:xfrm>
            <a:off x="5212080" y="2340864"/>
            <a:ext cx="201168" cy="20116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5"/>
          <p:cNvSpPr/>
          <p:nvPr/>
        </p:nvSpPr>
        <p:spPr>
          <a:xfrm>
            <a:off x="5468112" y="2322576"/>
            <a:ext cx="1554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Agent (ML)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5"/>
          <p:cNvSpPr/>
          <p:nvPr/>
        </p:nvSpPr>
        <p:spPr>
          <a:xfrm>
            <a:off x="7132320" y="2340864"/>
            <a:ext cx="201168" cy="201168"/>
          </a:xfrm>
          <a:prstGeom prst="rect">
            <a:avLst/>
          </a:prstGeom>
          <a:solidFill>
            <a:srgbClr val="2EC4B6"/>
          </a:solidFill>
          <a:ln cap="flat" cmpd="sng" w="1270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5"/>
          <p:cNvSpPr/>
          <p:nvPr/>
        </p:nvSpPr>
        <p:spPr>
          <a:xfrm>
            <a:off x="7388352" y="2322576"/>
            <a:ext cx="1554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5"/>
          <p:cNvSpPr/>
          <p:nvPr/>
        </p:nvSpPr>
        <p:spPr>
          <a:xfrm>
            <a:off x="164592" y="2697480"/>
            <a:ext cx="2834640" cy="1691640"/>
          </a:xfrm>
          <a:prstGeom prst="rect">
            <a:avLst/>
          </a:prstGeom>
          <a:solidFill>
            <a:srgbClr val="16305A"/>
          </a:solidFill>
          <a:ln cap="flat" cmpd="sng" w="15225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5"/>
          <p:cNvSpPr/>
          <p:nvPr/>
        </p:nvSpPr>
        <p:spPr>
          <a:xfrm>
            <a:off x="164592" y="2697480"/>
            <a:ext cx="2834640" cy="329184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5"/>
          <p:cNvSpPr/>
          <p:nvPr/>
        </p:nvSpPr>
        <p:spPr>
          <a:xfrm>
            <a:off x="237744" y="2697480"/>
            <a:ext cx="268833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all-MiniLM-L6-v2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5"/>
          <p:cNvSpPr/>
          <p:nvPr/>
        </p:nvSpPr>
        <p:spPr>
          <a:xfrm>
            <a:off x="256032" y="3072384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6-layer BERT · 22M params · 384-dim embeddings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5"/>
          <p:cNvSpPr/>
          <p:nvPr/>
        </p:nvSpPr>
        <p:spPr>
          <a:xfrm>
            <a:off x="256032" y="3547872"/>
            <a:ext cx="2651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Sentence embedding for indexing &amp; querying ChromaDB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5"/>
          <p:cNvSpPr/>
          <p:nvPr/>
        </p:nvSpPr>
        <p:spPr>
          <a:xfrm>
            <a:off x="3154680" y="2697480"/>
            <a:ext cx="2834640" cy="1691640"/>
          </a:xfrm>
          <a:prstGeom prst="rect">
            <a:avLst/>
          </a:prstGeom>
          <a:solidFill>
            <a:srgbClr val="16305A"/>
          </a:solidFill>
          <a:ln cap="flat" cmpd="sng" w="15225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5"/>
          <p:cNvSpPr/>
          <p:nvPr/>
        </p:nvSpPr>
        <p:spPr>
          <a:xfrm>
            <a:off x="3154680" y="2697480"/>
            <a:ext cx="2834640" cy="329184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5"/>
          <p:cNvSpPr/>
          <p:nvPr/>
        </p:nvSpPr>
        <p:spPr>
          <a:xfrm>
            <a:off x="3227832" y="2697480"/>
            <a:ext cx="268833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ProsusAI/FinBERT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5"/>
          <p:cNvSpPr/>
          <p:nvPr/>
        </p:nvSpPr>
        <p:spPr>
          <a:xfrm>
            <a:off x="3246120" y="3072384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BERT-base fine-tuned · Financial PhraseBank · 4,846 sentences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5"/>
          <p:cNvSpPr/>
          <p:nvPr/>
        </p:nvSpPr>
        <p:spPr>
          <a:xfrm>
            <a:off x="3246120" y="3547872"/>
            <a:ext cx="2651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3-class sentiment (pos/neg/neutral) · 73.47% accuracy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5"/>
          <p:cNvSpPr/>
          <p:nvPr/>
        </p:nvSpPr>
        <p:spPr>
          <a:xfrm>
            <a:off x="6144768" y="2697480"/>
            <a:ext cx="2834640" cy="1691640"/>
          </a:xfrm>
          <a:prstGeom prst="rect">
            <a:avLst/>
          </a:prstGeom>
          <a:solidFill>
            <a:srgbClr val="16305A"/>
          </a:solidFill>
          <a:ln cap="flat" cmpd="sng" w="15225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5"/>
          <p:cNvSpPr/>
          <p:nvPr/>
        </p:nvSpPr>
        <p:spPr>
          <a:xfrm>
            <a:off x="6144768" y="2697480"/>
            <a:ext cx="2834640" cy="329184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5"/>
          <p:cNvSpPr/>
          <p:nvPr/>
        </p:nvSpPr>
        <p:spPr>
          <a:xfrm>
            <a:off x="6217920" y="2697480"/>
            <a:ext cx="268833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TinyLlama (Baseline)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5"/>
          <p:cNvSpPr/>
          <p:nvPr/>
        </p:nvSpPr>
        <p:spPr>
          <a:xfrm>
            <a:off x="6236208" y="3072384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Baseline LLM comparison only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5"/>
          <p:cNvSpPr/>
          <p:nvPr/>
        </p:nvSpPr>
        <p:spPr>
          <a:xfrm>
            <a:off x="6236208" y="3547872"/>
            <a:ext cx="2651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Replaced by direct document concatenation in OPTIMIZED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6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6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6"/>
          <p:cNvSpPr/>
          <p:nvPr/>
        </p:nvSpPr>
        <p:spPr>
          <a:xfrm>
            <a:off x="274320" y="164592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Evaluation Results: April 2, 2026 — Live API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6"/>
          <p:cNvSpPr/>
          <p:nvPr/>
        </p:nvSpPr>
        <p:spPr>
          <a:xfrm>
            <a:off x="274320" y="740664"/>
            <a:ext cx="1097280" cy="4114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6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63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6"/>
          <p:cNvSpPr/>
          <p:nvPr/>
        </p:nvSpPr>
        <p:spPr>
          <a:xfrm>
            <a:off x="164592" y="4754880"/>
            <a:ext cx="8778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850"/>
              <a:buFont typeface="Calibri"/>
              <a:buNone/>
            </a:pPr>
            <a:r>
              <a:rPr b="0" i="1" lang="en-US" sz="85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AAI590 Capstone · University of San Diego · April 2026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6"/>
          <p:cNvSpPr/>
          <p:nvPr/>
        </p:nvSpPr>
        <p:spPr>
          <a:xfrm>
            <a:off x="164592" y="896112"/>
            <a:ext cx="1920240" cy="1005840"/>
          </a:xfrm>
          <a:prstGeom prst="rect">
            <a:avLst/>
          </a:prstGeom>
          <a:solidFill>
            <a:srgbClr val="1A3A6E"/>
          </a:solidFill>
          <a:ln cap="flat" cmpd="sng" w="2540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6"/>
          <p:cNvSpPr/>
          <p:nvPr/>
        </p:nvSpPr>
        <p:spPr>
          <a:xfrm>
            <a:off x="219456" y="950976"/>
            <a:ext cx="1810512" cy="5532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83.3%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6"/>
          <p:cNvSpPr/>
          <p:nvPr/>
        </p:nvSpPr>
        <p:spPr>
          <a:xfrm>
            <a:off x="219456" y="1479499"/>
            <a:ext cx="1810512" cy="38221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Attack Deflection Rate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6"/>
          <p:cNvSpPr/>
          <p:nvPr/>
        </p:nvSpPr>
        <p:spPr>
          <a:xfrm>
            <a:off x="2231136" y="896112"/>
            <a:ext cx="1920240" cy="1005840"/>
          </a:xfrm>
          <a:prstGeom prst="rect">
            <a:avLst/>
          </a:prstGeom>
          <a:solidFill>
            <a:srgbClr val="1A3A6E"/>
          </a:solidFill>
          <a:ln cap="flat" cmpd="sng" w="254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6"/>
          <p:cNvSpPr/>
          <p:nvPr/>
        </p:nvSpPr>
        <p:spPr>
          <a:xfrm>
            <a:off x="2286000" y="950976"/>
            <a:ext cx="1810512" cy="5532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0 / 3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6"/>
          <p:cNvSpPr/>
          <p:nvPr/>
        </p:nvSpPr>
        <p:spPr>
          <a:xfrm>
            <a:off x="2286000" y="1479499"/>
            <a:ext cx="1810512" cy="38221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Hallucination Probes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6"/>
          <p:cNvSpPr/>
          <p:nvPr/>
        </p:nvSpPr>
        <p:spPr>
          <a:xfrm>
            <a:off x="4297680" y="896112"/>
            <a:ext cx="1920240" cy="1005840"/>
          </a:xfrm>
          <a:prstGeom prst="rect">
            <a:avLst/>
          </a:prstGeom>
          <a:solidFill>
            <a:srgbClr val="1A3A6E"/>
          </a:solidFill>
          <a:ln cap="flat" cmpd="sng" w="254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6"/>
          <p:cNvSpPr/>
          <p:nvPr/>
        </p:nvSpPr>
        <p:spPr>
          <a:xfrm>
            <a:off x="4352544" y="950976"/>
            <a:ext cx="1810512" cy="5532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18 / 18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6"/>
          <p:cNvSpPr/>
          <p:nvPr/>
        </p:nvSpPr>
        <p:spPr>
          <a:xfrm>
            <a:off x="4352544" y="1479499"/>
            <a:ext cx="1810512" cy="38221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Grounded Responses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6"/>
          <p:cNvSpPr/>
          <p:nvPr/>
        </p:nvSpPr>
        <p:spPr>
          <a:xfrm>
            <a:off x="6364224" y="896112"/>
            <a:ext cx="1920240" cy="1005840"/>
          </a:xfrm>
          <a:prstGeom prst="rect">
            <a:avLst/>
          </a:prstGeom>
          <a:solidFill>
            <a:srgbClr val="1A3A6E"/>
          </a:solidFill>
          <a:ln cap="flat" cmpd="sng" w="25400">
            <a:solidFill>
              <a:srgbClr val="FFC84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6"/>
          <p:cNvSpPr/>
          <p:nvPr/>
        </p:nvSpPr>
        <p:spPr>
          <a:xfrm>
            <a:off x="6419088" y="950976"/>
            <a:ext cx="1810512" cy="5532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1.77×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6"/>
          <p:cNvSpPr/>
          <p:nvPr/>
        </p:nvSpPr>
        <p:spPr>
          <a:xfrm>
            <a:off x="6419088" y="1479499"/>
            <a:ext cx="1810512" cy="38221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Latency Speedup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6"/>
          <p:cNvSpPr/>
          <p:nvPr/>
        </p:nvSpPr>
        <p:spPr>
          <a:xfrm>
            <a:off x="164592" y="2084832"/>
            <a:ext cx="5303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Block Reason Breakdown — 15 Blocked Queries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45" name="Google Shape;345;p6"/>
          <p:cNvGraphicFramePr/>
          <p:nvPr/>
        </p:nvGraphicFramePr>
        <p:xfrm>
          <a:off x="164592" y="245059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{D4F42CB0-8C47-47A8-97B8-7C13D60FE1B8}</a:tableStyleId>
              </a:tblPr>
              <a:tblGrid>
                <a:gridCol w="2834650"/>
                <a:gridCol w="731525"/>
                <a:gridCol w="1737350"/>
              </a:tblGrid>
              <a:tr h="276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Block Reason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Count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Category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</a:tr>
              <a:tr h="276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BLOCKED_ADVISORY_QUERY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4×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Advisory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</a:tr>
              <a:tr h="276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BLOCKED_STALE_DOCUMENTS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3×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HAL + Factual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</a:tr>
              <a:tr h="276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BLOCKED_UNKNOWN_ENTITY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3×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Nonexistent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</a:tr>
              <a:tr h="276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BLOCKED_UNSUPPORTED_YEAR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2×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Fabricated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</a:tr>
              <a:tr h="276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BLOCKED_INVALID_TOOL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2×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Confidential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</a:tr>
              <a:tr h="276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BLOCKED_LOW_SIMILARITY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1×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HAL Probe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</a:tr>
            </a:tbl>
          </a:graphicData>
        </a:graphic>
      </p:graphicFrame>
      <p:sp>
        <p:nvSpPr>
          <p:cNvPr id="346" name="Google Shape;346;p6"/>
          <p:cNvSpPr/>
          <p:nvPr/>
        </p:nvSpPr>
        <p:spPr>
          <a:xfrm>
            <a:off x="5669280" y="2084832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Outcome by Category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47" name="Google Shape;347;p6"/>
          <p:cNvGraphicFramePr/>
          <p:nvPr/>
        </p:nvGraphicFramePr>
        <p:xfrm>
          <a:off x="5577840" y="2377440"/>
          <a:ext cx="3383280" cy="2011680"/>
        </p:xfrm>
        <a:graphic>
          <a:graphicData uri="http://schemas.openxmlformats.org/drawingml/2006/chart">
            <c:chart r:id="rId4"/>
          </a:graphicData>
        </a:graphic>
      </p:graphicFrame>
      <p:sp>
        <p:nvSpPr>
          <p:cNvPr id="348" name="Google Shape;348;p6"/>
          <p:cNvSpPr/>
          <p:nvPr/>
        </p:nvSpPr>
        <p:spPr>
          <a:xfrm>
            <a:off x="164592" y="4425696"/>
            <a:ext cx="8778240" cy="256032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63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6"/>
          <p:cNvSpPr/>
          <p:nvPr/>
        </p:nvSpPr>
        <p:spPr>
          <a:xfrm>
            <a:off x="228600" y="4425696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Pre-fix: 2 probes leaked · blocked 78.6%  →  Post-fix: 0 probes leaked · blocked 88.2%  (first clean full-probe sweep in project history)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7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7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7"/>
          <p:cNvSpPr/>
          <p:nvPr/>
        </p:nvSpPr>
        <p:spPr>
          <a:xfrm>
            <a:off x="274320" y="164592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Performance: Latency &amp; Throughput Analysis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7"/>
          <p:cNvSpPr/>
          <p:nvPr/>
        </p:nvSpPr>
        <p:spPr>
          <a:xfrm>
            <a:off x="274320" y="740664"/>
            <a:ext cx="1097280" cy="4114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7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63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7"/>
          <p:cNvSpPr/>
          <p:nvPr/>
        </p:nvSpPr>
        <p:spPr>
          <a:xfrm>
            <a:off x="164592" y="4754880"/>
            <a:ext cx="8778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850"/>
              <a:buFont typeface="Calibri"/>
              <a:buNone/>
            </a:pPr>
            <a:r>
              <a:rPr b="0" i="1" lang="en-US" sz="85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AAI590 Capstone · University of San Diego · April 2026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7"/>
          <p:cNvSpPr/>
          <p:nvPr/>
        </p:nvSpPr>
        <p:spPr>
          <a:xfrm>
            <a:off x="164592" y="896112"/>
            <a:ext cx="5486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Average Response Latency by Category (seconds)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62" name="Google Shape;362;p7"/>
          <p:cNvGraphicFramePr/>
          <p:nvPr/>
        </p:nvGraphicFramePr>
        <p:xfrm>
          <a:off x="164592" y="1225296"/>
          <a:ext cx="5394960" cy="306324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363" name="Google Shape;363;p7"/>
          <p:cNvSpPr/>
          <p:nvPr/>
        </p:nvSpPr>
        <p:spPr>
          <a:xfrm>
            <a:off x="5806440" y="896112"/>
            <a:ext cx="31089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Per-Category Speedup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7"/>
          <p:cNvSpPr/>
          <p:nvPr/>
        </p:nvSpPr>
        <p:spPr>
          <a:xfrm>
            <a:off x="5806440" y="1261872"/>
            <a:ext cx="3108960" cy="347472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7"/>
          <p:cNvSpPr/>
          <p:nvPr/>
        </p:nvSpPr>
        <p:spPr>
          <a:xfrm>
            <a:off x="5870448" y="1261872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Category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7"/>
          <p:cNvSpPr/>
          <p:nvPr/>
        </p:nvSpPr>
        <p:spPr>
          <a:xfrm>
            <a:off x="7726680" y="1261872"/>
            <a:ext cx="1097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Speedup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7"/>
          <p:cNvSpPr/>
          <p:nvPr/>
        </p:nvSpPr>
        <p:spPr>
          <a:xfrm>
            <a:off x="5806440" y="1645920"/>
            <a:ext cx="3108960" cy="347472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7"/>
          <p:cNvSpPr/>
          <p:nvPr/>
        </p:nvSpPr>
        <p:spPr>
          <a:xfrm>
            <a:off x="5870448" y="1645920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FACTUAL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7"/>
          <p:cNvSpPr/>
          <p:nvPr/>
        </p:nvSpPr>
        <p:spPr>
          <a:xfrm>
            <a:off x="7726680" y="1645920"/>
            <a:ext cx="1097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2.2×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7"/>
          <p:cNvSpPr/>
          <p:nvPr/>
        </p:nvSpPr>
        <p:spPr>
          <a:xfrm>
            <a:off x="5806440" y="2029968"/>
            <a:ext cx="3108960" cy="347472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7"/>
          <p:cNvSpPr/>
          <p:nvPr/>
        </p:nvSpPr>
        <p:spPr>
          <a:xfrm>
            <a:off x="5870448" y="202996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NONEXISTENT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7"/>
          <p:cNvSpPr/>
          <p:nvPr/>
        </p:nvSpPr>
        <p:spPr>
          <a:xfrm>
            <a:off x="7726680" y="2029968"/>
            <a:ext cx="1097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2.0×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7"/>
          <p:cNvSpPr/>
          <p:nvPr/>
        </p:nvSpPr>
        <p:spPr>
          <a:xfrm>
            <a:off x="5806440" y="2414016"/>
            <a:ext cx="3108960" cy="347472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7"/>
          <p:cNvSpPr/>
          <p:nvPr/>
        </p:nvSpPr>
        <p:spPr>
          <a:xfrm>
            <a:off x="5870448" y="2414016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FABRICATED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7"/>
          <p:cNvSpPr/>
          <p:nvPr/>
        </p:nvSpPr>
        <p:spPr>
          <a:xfrm>
            <a:off x="7726680" y="2414016"/>
            <a:ext cx="1097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1.5×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7"/>
          <p:cNvSpPr/>
          <p:nvPr/>
        </p:nvSpPr>
        <p:spPr>
          <a:xfrm>
            <a:off x="5806440" y="2798064"/>
            <a:ext cx="3108960" cy="347472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"/>
          <p:cNvSpPr/>
          <p:nvPr/>
        </p:nvSpPr>
        <p:spPr>
          <a:xfrm>
            <a:off x="5870448" y="2798064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CONFIDENTIAL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7"/>
          <p:cNvSpPr/>
          <p:nvPr/>
        </p:nvSpPr>
        <p:spPr>
          <a:xfrm>
            <a:off x="7726680" y="2798064"/>
            <a:ext cx="1097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1.6×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7"/>
          <p:cNvSpPr/>
          <p:nvPr/>
        </p:nvSpPr>
        <p:spPr>
          <a:xfrm>
            <a:off x="5806440" y="3182112"/>
            <a:ext cx="3108960" cy="347472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"/>
          <p:cNvSpPr/>
          <p:nvPr/>
        </p:nvSpPr>
        <p:spPr>
          <a:xfrm>
            <a:off x="5870448" y="3182112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HAL_PROBE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7"/>
          <p:cNvSpPr/>
          <p:nvPr/>
        </p:nvSpPr>
        <p:spPr>
          <a:xfrm>
            <a:off x="7726680" y="3182112"/>
            <a:ext cx="1097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0.91×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7"/>
          <p:cNvSpPr/>
          <p:nvPr/>
        </p:nvSpPr>
        <p:spPr>
          <a:xfrm>
            <a:off x="5806440" y="3566160"/>
            <a:ext cx="3108960" cy="347472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7"/>
          <p:cNvSpPr/>
          <p:nvPr/>
        </p:nvSpPr>
        <p:spPr>
          <a:xfrm>
            <a:off x="5870448" y="3566160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ADVISORY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7"/>
          <p:cNvSpPr/>
          <p:nvPr/>
        </p:nvSpPr>
        <p:spPr>
          <a:xfrm>
            <a:off x="7726680" y="3566160"/>
            <a:ext cx="1097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0.35×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7"/>
          <p:cNvSpPr/>
          <p:nvPr/>
        </p:nvSpPr>
        <p:spPr>
          <a:xfrm>
            <a:off x="5806440" y="3950208"/>
            <a:ext cx="3108960" cy="347472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7"/>
          <p:cNvSpPr/>
          <p:nvPr/>
        </p:nvSpPr>
        <p:spPr>
          <a:xfrm>
            <a:off x="5870448" y="395020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OVERALL AVG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7"/>
          <p:cNvSpPr/>
          <p:nvPr/>
        </p:nvSpPr>
        <p:spPr>
          <a:xfrm>
            <a:off x="7726680" y="3950208"/>
            <a:ext cx="1097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1.77×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7"/>
          <p:cNvSpPr/>
          <p:nvPr/>
        </p:nvSpPr>
        <p:spPr>
          <a:xfrm>
            <a:off x="164592" y="4370832"/>
            <a:ext cx="87782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FACTUAL category: TinyLlama generation avg 10.96 s vs RAG cached retrieval 4.97 s  |  Guard-blocked categories respond in &lt; 0.2 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8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8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8"/>
          <p:cNvSpPr/>
          <p:nvPr/>
        </p:nvSpPr>
        <p:spPr>
          <a:xfrm>
            <a:off x="274320" y="164592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 Findings &amp; Discussion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8"/>
          <p:cNvSpPr/>
          <p:nvPr/>
        </p:nvSpPr>
        <p:spPr>
          <a:xfrm>
            <a:off x="274320" y="740664"/>
            <a:ext cx="1097280" cy="4114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8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63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" name="Google Shape;399;p8"/>
          <p:cNvSpPr/>
          <p:nvPr/>
        </p:nvSpPr>
        <p:spPr>
          <a:xfrm>
            <a:off x="164592" y="4754880"/>
            <a:ext cx="8778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850"/>
              <a:buFont typeface="Calibri"/>
              <a:buNone/>
            </a:pPr>
            <a:r>
              <a:rPr b="0" i="1" lang="en-US" sz="85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AAI590 Capstone · University of San Diego · April 2026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8"/>
          <p:cNvSpPr/>
          <p:nvPr/>
        </p:nvSpPr>
        <p:spPr>
          <a:xfrm>
            <a:off x="164592" y="896112"/>
            <a:ext cx="4251960" cy="1755648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E639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8"/>
          <p:cNvSpPr/>
          <p:nvPr/>
        </p:nvSpPr>
        <p:spPr>
          <a:xfrm>
            <a:off x="164592" y="896112"/>
            <a:ext cx="73152" cy="1755648"/>
          </a:xfrm>
          <a:prstGeom prst="rect">
            <a:avLst/>
          </a:prstGeom>
          <a:solidFill>
            <a:srgbClr val="E63946"/>
          </a:solidFill>
          <a:ln cap="flat" cmpd="sng" w="12700">
            <a:solidFill>
              <a:srgbClr val="E639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8"/>
          <p:cNvSpPr/>
          <p:nvPr/>
        </p:nvSpPr>
        <p:spPr>
          <a:xfrm>
            <a:off x="329184" y="987552"/>
            <a:ext cx="502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3946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E63946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8"/>
          <p:cNvSpPr/>
          <p:nvPr/>
        </p:nvSpPr>
        <p:spPr>
          <a:xfrm>
            <a:off x="850392" y="987552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394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63946"/>
                </a:solidFill>
                <a:latin typeface="Calibri"/>
                <a:ea typeface="Calibri"/>
                <a:cs typeface="Calibri"/>
                <a:sym typeface="Calibri"/>
              </a:rPr>
              <a:t>Evaluation Mode Problem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8"/>
          <p:cNvSpPr/>
          <p:nvPr/>
        </p:nvSpPr>
        <p:spPr>
          <a:xfrm>
            <a:off x="329184" y="1408176"/>
            <a:ext cx="3950208" cy="11338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In-process benchmarking leaked all 3 probes; live API blocked all 3. Guard chain only activates through the FastAPI endpoint. RAG safety evaluation must be end-to-end.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8"/>
          <p:cNvSpPr/>
          <p:nvPr/>
        </p:nvSpPr>
        <p:spPr>
          <a:xfrm>
            <a:off x="4663440" y="896112"/>
            <a:ext cx="4251960" cy="1755648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8"/>
          <p:cNvSpPr/>
          <p:nvPr/>
        </p:nvSpPr>
        <p:spPr>
          <a:xfrm>
            <a:off x="4663440" y="896112"/>
            <a:ext cx="73152" cy="175564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8"/>
          <p:cNvSpPr/>
          <p:nvPr/>
        </p:nvSpPr>
        <p:spPr>
          <a:xfrm>
            <a:off x="4828032" y="987552"/>
            <a:ext cx="502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8"/>
          <p:cNvSpPr/>
          <p:nvPr/>
        </p:nvSpPr>
        <p:spPr>
          <a:xfrm>
            <a:off x="5349240" y="987552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grounded=True is Insufficient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8"/>
          <p:cNvSpPr/>
          <p:nvPr/>
        </p:nvSpPr>
        <p:spPr>
          <a:xfrm>
            <a:off x="4828032" y="1408176"/>
            <a:ext cx="3950208" cy="11338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Hallucination rate reported 0.0 even with 2 active vulnerabilities. A grounded flag confirms an answer was produced — not that retrieved content is correct or temporally aligned.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8"/>
          <p:cNvSpPr/>
          <p:nvPr/>
        </p:nvSpPr>
        <p:spPr>
          <a:xfrm>
            <a:off x="164592" y="2816352"/>
            <a:ext cx="4251960" cy="1755648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8"/>
          <p:cNvSpPr/>
          <p:nvPr/>
        </p:nvSpPr>
        <p:spPr>
          <a:xfrm>
            <a:off x="164592" y="2816352"/>
            <a:ext cx="73152" cy="1755648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8"/>
          <p:cNvSpPr/>
          <p:nvPr/>
        </p:nvSpPr>
        <p:spPr>
          <a:xfrm>
            <a:off x="329184" y="2907792"/>
            <a:ext cx="502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8"/>
          <p:cNvSpPr/>
          <p:nvPr/>
        </p:nvSpPr>
        <p:spPr>
          <a:xfrm>
            <a:off x="850392" y="2907792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LLM-Free Assembly: Trade-offs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8"/>
          <p:cNvSpPr/>
          <p:nvPr/>
        </p:nvSpPr>
        <p:spPr>
          <a:xfrm>
            <a:off x="329184" y="3328416"/>
            <a:ext cx="3950208" cy="11338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Architectural grounding guarantee achieved, but responses are raw document strings, not fluent prose. Acceptable for OHLCV / filing data; narrative synthesis requires a constrained generative stage.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8"/>
          <p:cNvSpPr/>
          <p:nvPr/>
        </p:nvSpPr>
        <p:spPr>
          <a:xfrm>
            <a:off x="4663440" y="2816352"/>
            <a:ext cx="4251960" cy="1755648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8"/>
          <p:cNvSpPr/>
          <p:nvPr/>
        </p:nvSpPr>
        <p:spPr>
          <a:xfrm>
            <a:off x="4663440" y="2816352"/>
            <a:ext cx="73152" cy="1755648"/>
          </a:xfrm>
          <a:prstGeom prst="rect">
            <a:avLst/>
          </a:prstGeom>
          <a:solidFill>
            <a:srgbClr val="2EC4B6"/>
          </a:solidFill>
          <a:ln cap="flat" cmpd="sng" w="1270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8"/>
          <p:cNvSpPr/>
          <p:nvPr/>
        </p:nvSpPr>
        <p:spPr>
          <a:xfrm>
            <a:off x="4828032" y="2907792"/>
            <a:ext cx="502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8"/>
          <p:cNvSpPr/>
          <p:nvPr/>
        </p:nvSpPr>
        <p:spPr>
          <a:xfrm>
            <a:off x="5349240" y="2907792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FinBERT Accuracy: 73.47%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8"/>
          <p:cNvSpPr/>
          <p:nvPr/>
        </p:nvSpPr>
        <p:spPr>
          <a:xfrm>
            <a:off x="4828032" y="3328416"/>
            <a:ext cx="3950208" cy="11338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Below 80% production threshold. Failures on implicit positives (M&amp;A) and social media idioms. Fix: fine-tune on social corpus or add VADER tiebreaker for short inputs (&lt; 15 tokens).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9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9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9"/>
          <p:cNvSpPr/>
          <p:nvPr/>
        </p:nvSpPr>
        <p:spPr>
          <a:xfrm>
            <a:off x="274320" y="164592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Conclusion &amp; Future Work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9"/>
          <p:cNvSpPr/>
          <p:nvPr/>
        </p:nvSpPr>
        <p:spPr>
          <a:xfrm>
            <a:off x="274320" y="740664"/>
            <a:ext cx="1097280" cy="4114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9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63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9"/>
          <p:cNvSpPr/>
          <p:nvPr/>
        </p:nvSpPr>
        <p:spPr>
          <a:xfrm>
            <a:off x="164592" y="4754880"/>
            <a:ext cx="8778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850"/>
              <a:buFont typeface="Calibri"/>
              <a:buNone/>
            </a:pPr>
            <a:r>
              <a:rPr b="0" i="1" lang="en-US" sz="85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AAI590 Capstone · University of San Diego · April 2026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9"/>
          <p:cNvSpPr/>
          <p:nvPr/>
        </p:nvSpPr>
        <p:spPr>
          <a:xfrm>
            <a:off x="164592" y="896112"/>
            <a:ext cx="5029200" cy="3657600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A3A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9"/>
          <p:cNvSpPr/>
          <p:nvPr/>
        </p:nvSpPr>
        <p:spPr>
          <a:xfrm>
            <a:off x="164592" y="896112"/>
            <a:ext cx="5029200" cy="347472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9"/>
          <p:cNvSpPr/>
          <p:nvPr/>
        </p:nvSpPr>
        <p:spPr>
          <a:xfrm>
            <a:off x="237744" y="896112"/>
            <a:ext cx="488289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What We Proved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9"/>
          <p:cNvSpPr/>
          <p:nvPr/>
        </p:nvSpPr>
        <p:spPr>
          <a:xfrm>
            <a:off x="274320" y="1389888"/>
            <a:ext cx="182880" cy="182880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9"/>
          <p:cNvSpPr/>
          <p:nvPr/>
        </p:nvSpPr>
        <p:spPr>
          <a:xfrm>
            <a:off x="548640" y="1335024"/>
            <a:ext cx="4517136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Layered guard-based RAG with LLM-free assembly achieves zero measured hallucination on live financial queries.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9"/>
          <p:cNvSpPr/>
          <p:nvPr/>
        </p:nvSpPr>
        <p:spPr>
          <a:xfrm>
            <a:off x="274320" y="1874520"/>
            <a:ext cx="182880" cy="182880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9"/>
          <p:cNvSpPr/>
          <p:nvPr/>
        </p:nvSpPr>
        <p:spPr>
          <a:xfrm>
            <a:off x="548640" y="1819656"/>
            <a:ext cx="4517136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7-layer defence blocked 83.3% of adversarial inputs across 6 threat categories.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9"/>
          <p:cNvSpPr/>
          <p:nvPr/>
        </p:nvSpPr>
        <p:spPr>
          <a:xfrm>
            <a:off x="274320" y="2359152"/>
            <a:ext cx="182880" cy="182880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9"/>
          <p:cNvSpPr/>
          <p:nvPr/>
        </p:nvSpPr>
        <p:spPr>
          <a:xfrm>
            <a:off x="548640" y="2304288"/>
            <a:ext cx="4517136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All 3 hallucination probes contained in live API testing — first clean sweep in project history.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9"/>
          <p:cNvSpPr/>
          <p:nvPr/>
        </p:nvSpPr>
        <p:spPr>
          <a:xfrm>
            <a:off x="274320" y="2843784"/>
            <a:ext cx="182880" cy="182880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9"/>
          <p:cNvSpPr/>
          <p:nvPr/>
        </p:nvSpPr>
        <p:spPr>
          <a:xfrm>
            <a:off x="548640" y="2788920"/>
            <a:ext cx="4517136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OPTIMIZED pipeline runs at 1.77× lower latency than a plain LLM baseline.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9"/>
          <p:cNvSpPr/>
          <p:nvPr/>
        </p:nvSpPr>
        <p:spPr>
          <a:xfrm>
            <a:off x="274320" y="3328416"/>
            <a:ext cx="182880" cy="182880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9"/>
          <p:cNvSpPr/>
          <p:nvPr/>
        </p:nvSpPr>
        <p:spPr>
          <a:xfrm>
            <a:off x="548640" y="3273552"/>
            <a:ext cx="4517136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In-process benchmarking is fundamentally insufficient for RAG safety evaluation — end-to-end testing is mandatory.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9"/>
          <p:cNvSpPr/>
          <p:nvPr/>
        </p:nvSpPr>
        <p:spPr>
          <a:xfrm>
            <a:off x="5413248" y="896112"/>
            <a:ext cx="3566160" cy="3657600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A3A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9"/>
          <p:cNvSpPr/>
          <p:nvPr/>
        </p:nvSpPr>
        <p:spPr>
          <a:xfrm>
            <a:off x="5413248" y="896112"/>
            <a:ext cx="3566160" cy="347472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9"/>
          <p:cNvSpPr/>
          <p:nvPr/>
        </p:nvSpPr>
        <p:spPr>
          <a:xfrm>
            <a:off x="5486400" y="896112"/>
            <a:ext cx="341985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Future Work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9"/>
          <p:cNvSpPr/>
          <p:nvPr/>
        </p:nvSpPr>
        <p:spPr>
          <a:xfrm>
            <a:off x="5522976" y="1389888"/>
            <a:ext cx="274320" cy="274320"/>
          </a:xfrm>
          <a:prstGeom prst="ellipse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9"/>
          <p:cNvSpPr/>
          <p:nvPr/>
        </p:nvSpPr>
        <p:spPr>
          <a:xfrm>
            <a:off x="5522976" y="1389888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9"/>
          <p:cNvSpPr/>
          <p:nvPr/>
        </p:nvSpPr>
        <p:spPr>
          <a:xfrm>
            <a:off x="5870448" y="137160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Date-Range Metadata Filters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9"/>
          <p:cNvSpPr/>
          <p:nvPr/>
        </p:nvSpPr>
        <p:spPr>
          <a:xfrm>
            <a:off x="5870448" y="1645920"/>
            <a:ext cx="29260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ChromaDB retrieval filters to close temporal grounding gap for historical queries.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9"/>
          <p:cNvSpPr/>
          <p:nvPr/>
        </p:nvSpPr>
        <p:spPr>
          <a:xfrm>
            <a:off x="5522976" y="2103120"/>
            <a:ext cx="274320" cy="274320"/>
          </a:xfrm>
          <a:prstGeom prst="ellipse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9"/>
          <p:cNvSpPr/>
          <p:nvPr/>
        </p:nvSpPr>
        <p:spPr>
          <a:xfrm>
            <a:off x="5522976" y="210312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9"/>
          <p:cNvSpPr/>
          <p:nvPr/>
        </p:nvSpPr>
        <p:spPr>
          <a:xfrm>
            <a:off x="5870448" y="208483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FinBERT Social Fine-tuning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9"/>
          <p:cNvSpPr/>
          <p:nvPr/>
        </p:nvSpPr>
        <p:spPr>
          <a:xfrm>
            <a:off x="5870448" y="2359152"/>
            <a:ext cx="29260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Fine-tune on social media financial corpus or add VADER tiebreaker to push accuracy above 80%.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9"/>
          <p:cNvSpPr/>
          <p:nvPr/>
        </p:nvSpPr>
        <p:spPr>
          <a:xfrm>
            <a:off x="5522976" y="2816352"/>
            <a:ext cx="274320" cy="274320"/>
          </a:xfrm>
          <a:prstGeom prst="ellipse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9"/>
          <p:cNvSpPr/>
          <p:nvPr/>
        </p:nvSpPr>
        <p:spPr>
          <a:xfrm>
            <a:off x="5522976" y="281635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9"/>
          <p:cNvSpPr/>
          <p:nvPr/>
        </p:nvSpPr>
        <p:spPr>
          <a:xfrm>
            <a:off x="5870448" y="2798064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Per-Source TTL Config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9"/>
          <p:cNvSpPr/>
          <p:nvPr/>
        </p:nvSpPr>
        <p:spPr>
          <a:xfrm>
            <a:off x="5870448" y="3072384"/>
            <a:ext cx="29260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Prevent over-blocking of SEC filing data by separating TTLs from real-time market data.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9"/>
          <p:cNvSpPr/>
          <p:nvPr/>
        </p:nvSpPr>
        <p:spPr>
          <a:xfrm>
            <a:off x="5522976" y="3529584"/>
            <a:ext cx="274320" cy="274320"/>
          </a:xfrm>
          <a:prstGeom prst="ellipse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p9"/>
          <p:cNvSpPr/>
          <p:nvPr/>
        </p:nvSpPr>
        <p:spPr>
          <a:xfrm>
            <a:off x="5522976" y="3529584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9"/>
          <p:cNvSpPr/>
          <p:nvPr/>
        </p:nvSpPr>
        <p:spPr>
          <a:xfrm>
            <a:off x="5870448" y="3511296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ConfigMap Thresholds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9"/>
          <p:cNvSpPr/>
          <p:nvPr/>
        </p:nvSpPr>
        <p:spPr>
          <a:xfrm>
            <a:off x="5870448" y="3785616"/>
            <a:ext cx="29260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Promote similarity &amp; confidence thresholds to Kubernetes environment variables for live tuning without downtime.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2026-04-04T16:00:45Z</dcterms:created>
  <dc:creator>Gangadhar Singh Shiva, Akshobhya Rao BV, Ananya Chandraker</dc:creator>
</cp:coreProperties>
</file>